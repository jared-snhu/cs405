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tags/tag13.xml" ContentType="application/vnd.openxmlformats-officedocument.presentationml.tags+xml"/>
  <Override PartName="/ppt/notesSlides/notesSlide12.xml" ContentType="application/vnd.openxmlformats-officedocument.presentationml.notesSlide+xml"/>
  <Override PartName="/ppt/tags/tag14.xml" ContentType="application/vnd.openxmlformats-officedocument.presentationml.tags+xml"/>
  <Override PartName="/ppt/notesSlides/notesSlide13.xml" ContentType="application/vnd.openxmlformats-officedocument.presentationml.notesSlide+xml"/>
  <Override PartName="/ppt/tags/tag15.xml" ContentType="application/vnd.openxmlformats-officedocument.presentationml.tags+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Lst>
  <p:notesMasterIdLst>
    <p:notesMasterId r:id="rId19"/>
  </p:notesMasterIdLst>
  <p:sldIdLst>
    <p:sldId id="256" r:id="rId5"/>
    <p:sldId id="257" r:id="rId6"/>
    <p:sldId id="258" r:id="rId7"/>
    <p:sldId id="259" r:id="rId8"/>
    <p:sldId id="260" r:id="rId9"/>
    <p:sldId id="261" r:id="rId10"/>
    <p:sldId id="262" r:id="rId11"/>
    <p:sldId id="263" r:id="rId12"/>
    <p:sldId id="270" r:id="rId30"/>
    <p:sldId id="271" r:id="rId31"/>
    <p:sldId id="272" r:id="rId32"/>
    <p:sldId id="273" r:id="rId33"/>
    <p:sldId id="274" r:id="rId34"/>
    <p:sldId id="275" r:id="rId35"/>
    <p:sldId id="264" r:id="rId13"/>
    <p:sldId id="265" r:id="rId14"/>
    <p:sldId id="266" r:id="rId15"/>
    <p:sldId id="267" r:id="rId16"/>
    <p:sldId id="268" r:id="rId17"/>
    <p:sldId id="269" r:id="rId18"/>
  </p:sldIdLst>
  <p:sldSz cx="12192000" cy="6858000"/>
  <p:notesSz cx="6858000" cy="9144000"/>
  <p:embeddedFontLst>
    <p:embeddedFont>
      <p:font typeface="Century Gothic" panose="020B0502020202020204" pitchFamily="34" charset="0"/>
      <p:regular r:id="rId20"/>
      <p:bold r:id="rId21"/>
      <p:italic r:id="rId22"/>
      <p:boldItalic r:id="rId23"/>
    </p:embeddedFont>
  </p:embeddedFontLst>
  <p:custDataLst>
    <p:tags r:id="rId24"/>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5" roundtripDataSignature="AMtx7mhlYlCtF+airiOZksSy3UV5ad0gh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02198C4-3087-4945-87E3-76CBB3509B7E}">
  <a:tblStyle styleId="{802198C4-3087-4945-87E3-76CBB3509B7E}"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132" y="6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font" Target="fonts/font2.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customschemas.google.com/relationships/presentationmetadata" Target="metadata"/><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font" Target="fonts/font1.fntdata"/><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gs" Target="tags/tag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4.fntdata"/><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font" Target="fonts/font3.fntdata"/><Relationship Id="rId27" Type="http://schemas.openxmlformats.org/officeDocument/2006/relationships/viewProps" Target="viewProps.xml"/>  <Relationship Id="rId30" Type="http://schemas.openxmlformats.org/officeDocument/2006/relationships/slide" Target="slides/slide15.xml"/>
  <Relationship Id="rId31" Type="http://schemas.openxmlformats.org/officeDocument/2006/relationships/slide" Target="slides/slide16.xml"/>
  <Relationship Id="rId32" Type="http://schemas.openxmlformats.org/officeDocument/2006/relationships/slide" Target="slides/slide17.xml"/>
  <Relationship Id="rId33" Type="http://schemas.openxmlformats.org/officeDocument/2006/relationships/slide" Target="slides/slide18.xml"/>
  <Relationship Id="rId34" Type="http://schemas.openxmlformats.org/officeDocument/2006/relationships/slide" Target="slides/slide19.xml"/>
  <Relationship Id="rId35" Type="http://schemas.openxmlformats.org/officeDocument/2006/relationships/slide" Target="slides/slide20.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63919653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2" name="Google Shape;14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9" name="Google Shape;149;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7" name="Google Shape;15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5" name="Google Shape;165;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2" name="Google Shape;172;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9" name="Google Shape;17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6" name="Google Shape;186;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9504e2950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9504e2950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0" name="Google Shape;20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7" name="Google Shape;207;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4" name="Google Shape;214;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1" name="Google Shape;221;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8" name="Google Shape;228;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35" name="Google Shape;235;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2"/>
        <p:cNvGrpSpPr/>
        <p:nvPr/>
      </p:nvGrpSpPr>
      <p:grpSpPr>
        <a:xfrm>
          <a:off x="0" y="0"/>
          <a:ext cx="0" cy="0"/>
          <a:chOff x="0" y="0"/>
          <a:chExt cx="0" cy="0"/>
        </a:xfrm>
      </p:grpSpPr>
      <p:pic>
        <p:nvPicPr>
          <p:cNvPr id="13" name="Google Shape;13;p16"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14" name="Google Shape;14;p16"/>
          <p:cNvSpPr txBox="1">
            <a:spLocks noGrp="1"/>
          </p:cNvSpPr>
          <p:nvPr>
            <p:ph type="ctrTitle"/>
          </p:nvPr>
        </p:nvSpPr>
        <p:spPr>
          <a:xfrm>
            <a:off x="1371600" y="1803405"/>
            <a:ext cx="9448800" cy="1825096"/>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6000"/>
              <a:buFont typeface="Century Gothic"/>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16"/>
          <p:cNvSpPr txBox="1">
            <a:spLocks noGrp="1"/>
          </p:cNvSpPr>
          <p:nvPr>
            <p:ph type="subTitle" idx="1"/>
          </p:nvPr>
        </p:nvSpPr>
        <p:spPr>
          <a:xfrm>
            <a:off x="1371600" y="3632201"/>
            <a:ext cx="9448800" cy="6858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lt1"/>
              </a:buClr>
              <a:buSzPts val="2000"/>
              <a:buNone/>
              <a:defRPr sz="2000"/>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a:endParaRPr/>
          </a:p>
        </p:txBody>
      </p:sp>
      <p:sp>
        <p:nvSpPr>
          <p:cNvPr id="16" name="Google Shape;16;p16"/>
          <p:cNvSpPr txBox="1">
            <a:spLocks noGrp="1"/>
          </p:cNvSpPr>
          <p:nvPr>
            <p:ph type="dt" idx="10"/>
          </p:nvPr>
        </p:nvSpPr>
        <p:spPr>
          <a:xfrm>
            <a:off x="7909561" y="4314328"/>
            <a:ext cx="2910840" cy="374642"/>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6"/>
          <p:cNvSpPr txBox="1">
            <a:spLocks noGrp="1"/>
          </p:cNvSpPr>
          <p:nvPr>
            <p:ph type="ftr" idx="11"/>
          </p:nvPr>
        </p:nvSpPr>
        <p:spPr>
          <a:xfrm>
            <a:off x="1371600" y="4323845"/>
            <a:ext cx="6400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16"/>
          <p:cNvSpPr txBox="1">
            <a:spLocks noGrp="1"/>
          </p:cNvSpPr>
          <p:nvPr>
            <p:ph type="sldNum" idx="12"/>
          </p:nvPr>
        </p:nvSpPr>
        <p:spPr>
          <a:xfrm>
            <a:off x="8077200" y="1430866"/>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17"/>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7"/>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2" name="Google Shape;22;p17"/>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7"/>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17"/>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25"/>
        <p:cNvGrpSpPr/>
        <p:nvPr/>
      </p:nvGrpSpPr>
      <p:grpSpPr>
        <a:xfrm>
          <a:off x="0" y="0"/>
          <a:ext cx="0" cy="0"/>
          <a:chOff x="0" y="0"/>
          <a:chExt cx="0" cy="0"/>
        </a:xfrm>
      </p:grpSpPr>
      <p:pic>
        <p:nvPicPr>
          <p:cNvPr id="26" name="Google Shape;26;p18"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27" name="Google Shape;27;p18"/>
          <p:cNvSpPr txBox="1">
            <a:spLocks noGrp="1"/>
          </p:cNvSpPr>
          <p:nvPr>
            <p:ph type="title"/>
          </p:nvPr>
        </p:nvSpPr>
        <p:spPr>
          <a:xfrm>
            <a:off x="685800" y="753533"/>
            <a:ext cx="10820399" cy="2801935"/>
          </a:xfrm>
          <a:prstGeom prst="rect">
            <a:avLst/>
          </a:prstGeom>
          <a:noFill/>
          <a:ln>
            <a:noFill/>
          </a:ln>
        </p:spPr>
        <p:txBody>
          <a:bodyPr spcFirstLastPara="1" wrap="square" lIns="91425" tIns="45700" rIns="91425" bIns="45700" anchor="b" anchorCtr="0">
            <a:normAutofit/>
          </a:bodyPr>
          <a:lstStyle>
            <a:lvl1pPr lvl="0" algn="r">
              <a:lnSpc>
                <a:spcPct val="90000"/>
              </a:lnSpc>
              <a:spcBef>
                <a:spcPts val="0"/>
              </a:spcBef>
              <a:spcAft>
                <a:spcPts val="0"/>
              </a:spcAft>
              <a:buClr>
                <a:schemeClr val="lt1"/>
              </a:buClr>
              <a:buSzPts val="4000"/>
              <a:buFont typeface="Century Gothic"/>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8"/>
          <p:cNvSpPr txBox="1">
            <a:spLocks noGrp="1"/>
          </p:cNvSpPr>
          <p:nvPr>
            <p:ph type="body" idx="1"/>
          </p:nvPr>
        </p:nvSpPr>
        <p:spPr>
          <a:xfrm>
            <a:off x="1024467" y="3641725"/>
            <a:ext cx="10490200" cy="955675"/>
          </a:xfrm>
          <a:prstGeom prst="rect">
            <a:avLst/>
          </a:prstGeom>
          <a:noFill/>
          <a:ln>
            <a:noFill/>
          </a:ln>
        </p:spPr>
        <p:txBody>
          <a:bodyPr spcFirstLastPara="1" wrap="square" lIns="91425" tIns="45700" rIns="91425" bIns="45700" anchor="t" anchorCtr="0">
            <a:normAutofit/>
          </a:bodyPr>
          <a:lstStyle>
            <a:lvl1pPr marL="457200" lvl="0" indent="-228600" algn="r">
              <a:lnSpc>
                <a:spcPct val="90000"/>
              </a:lnSpc>
              <a:spcBef>
                <a:spcPts val="1000"/>
              </a:spcBef>
              <a:spcAft>
                <a:spcPts val="0"/>
              </a:spcAft>
              <a:buClr>
                <a:schemeClr val="lt1"/>
              </a:buClr>
              <a:buSzPts val="2200"/>
              <a:buNone/>
              <a:defRPr sz="2200">
                <a:solidFill>
                  <a:schemeClr val="lt1"/>
                </a:solidFill>
              </a:defRPr>
            </a:lvl1pPr>
            <a:lvl2pPr marL="914400" lvl="1" indent="-228600" algn="l">
              <a:lnSpc>
                <a:spcPct val="90000"/>
              </a:lnSpc>
              <a:spcBef>
                <a:spcPts val="500"/>
              </a:spcBef>
              <a:spcAft>
                <a:spcPts val="0"/>
              </a:spcAft>
              <a:buClr>
                <a:schemeClr val="lt1"/>
              </a:buClr>
              <a:buSzPts val="2000"/>
              <a:buNone/>
              <a:defRPr sz="2000">
                <a:solidFill>
                  <a:schemeClr val="lt1"/>
                </a:solidFill>
              </a:defRPr>
            </a:lvl2pPr>
            <a:lvl3pPr marL="1371600" lvl="2" indent="-228600" algn="l">
              <a:lnSpc>
                <a:spcPct val="90000"/>
              </a:lnSpc>
              <a:spcBef>
                <a:spcPts val="500"/>
              </a:spcBef>
              <a:spcAft>
                <a:spcPts val="0"/>
              </a:spcAft>
              <a:buClr>
                <a:schemeClr val="lt1"/>
              </a:buClr>
              <a:buSzPts val="1800"/>
              <a:buNone/>
              <a:defRPr sz="1800">
                <a:solidFill>
                  <a:schemeClr val="lt1"/>
                </a:solidFill>
              </a:defRPr>
            </a:lvl3pPr>
            <a:lvl4pPr marL="1828800" lvl="3" indent="-228600" algn="l">
              <a:lnSpc>
                <a:spcPct val="90000"/>
              </a:lnSpc>
              <a:spcBef>
                <a:spcPts val="500"/>
              </a:spcBef>
              <a:spcAft>
                <a:spcPts val="0"/>
              </a:spcAft>
              <a:buClr>
                <a:schemeClr val="lt1"/>
              </a:buClr>
              <a:buSzPts val="1600"/>
              <a:buNone/>
              <a:defRPr sz="1600">
                <a:solidFill>
                  <a:schemeClr val="lt1"/>
                </a:solidFill>
              </a:defRPr>
            </a:lvl4pPr>
            <a:lvl5pPr marL="2286000" lvl="4" indent="-228600" algn="l">
              <a:lnSpc>
                <a:spcPct val="90000"/>
              </a:lnSpc>
              <a:spcBef>
                <a:spcPts val="500"/>
              </a:spcBef>
              <a:spcAft>
                <a:spcPts val="0"/>
              </a:spcAft>
              <a:buClr>
                <a:schemeClr val="lt1"/>
              </a:buClr>
              <a:buSzPts val="1600"/>
              <a:buNone/>
              <a:defRPr sz="1600">
                <a:solidFill>
                  <a:schemeClr val="lt1"/>
                </a:solidFill>
              </a:defRPr>
            </a:lvl5pPr>
            <a:lvl6pPr marL="2743200" lvl="5" indent="-228600" algn="l">
              <a:lnSpc>
                <a:spcPct val="90000"/>
              </a:lnSpc>
              <a:spcBef>
                <a:spcPts val="500"/>
              </a:spcBef>
              <a:spcAft>
                <a:spcPts val="0"/>
              </a:spcAft>
              <a:buClr>
                <a:schemeClr val="lt1"/>
              </a:buClr>
              <a:buSzPts val="1600"/>
              <a:buNone/>
              <a:defRPr sz="1600">
                <a:solidFill>
                  <a:schemeClr val="lt1"/>
                </a:solidFill>
              </a:defRPr>
            </a:lvl6pPr>
            <a:lvl7pPr marL="3200400" lvl="6" indent="-228600" algn="l">
              <a:lnSpc>
                <a:spcPct val="90000"/>
              </a:lnSpc>
              <a:spcBef>
                <a:spcPts val="500"/>
              </a:spcBef>
              <a:spcAft>
                <a:spcPts val="0"/>
              </a:spcAft>
              <a:buClr>
                <a:schemeClr val="lt1"/>
              </a:buClr>
              <a:buSzPts val="1600"/>
              <a:buNone/>
              <a:defRPr sz="1600">
                <a:solidFill>
                  <a:schemeClr val="lt1"/>
                </a:solidFill>
              </a:defRPr>
            </a:lvl7pPr>
            <a:lvl8pPr marL="3657600" lvl="7" indent="-228600" algn="l">
              <a:lnSpc>
                <a:spcPct val="90000"/>
              </a:lnSpc>
              <a:spcBef>
                <a:spcPts val="500"/>
              </a:spcBef>
              <a:spcAft>
                <a:spcPts val="0"/>
              </a:spcAft>
              <a:buClr>
                <a:schemeClr val="lt1"/>
              </a:buClr>
              <a:buSzPts val="1600"/>
              <a:buNone/>
              <a:defRPr sz="1600">
                <a:solidFill>
                  <a:schemeClr val="lt1"/>
                </a:solidFill>
              </a:defRPr>
            </a:lvl8pPr>
            <a:lvl9pPr marL="4114800" lvl="8" indent="-228600" algn="l">
              <a:lnSpc>
                <a:spcPct val="90000"/>
              </a:lnSpc>
              <a:spcBef>
                <a:spcPts val="500"/>
              </a:spcBef>
              <a:spcAft>
                <a:spcPts val="0"/>
              </a:spcAft>
              <a:buClr>
                <a:schemeClr val="lt1"/>
              </a:buClr>
              <a:buSzPts val="1600"/>
              <a:buNone/>
              <a:defRPr sz="1600">
                <a:solidFill>
                  <a:schemeClr val="lt1"/>
                </a:solidFill>
              </a:defRPr>
            </a:lvl9pPr>
          </a:lstStyle>
          <a:p>
            <a:endParaRPr/>
          </a:p>
        </p:txBody>
      </p:sp>
      <p:sp>
        <p:nvSpPr>
          <p:cNvPr id="29" name="Google Shape;29;p18"/>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8"/>
          <p:cNvSpPr txBox="1">
            <a:spLocks noGrp="1"/>
          </p:cNvSpPr>
          <p:nvPr>
            <p:ph type="ftr" idx="11"/>
          </p:nvPr>
        </p:nvSpPr>
        <p:spPr>
          <a:xfrm>
            <a:off x="685800" y="381001"/>
            <a:ext cx="6991492" cy="36406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8"/>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2"/>
        <p:cNvGrpSpPr/>
        <p:nvPr/>
      </p:nvGrpSpPr>
      <p:grpSpPr>
        <a:xfrm>
          <a:off x="0" y="0"/>
          <a:ext cx="0" cy="0"/>
          <a:chOff x="0" y="0"/>
          <a:chExt cx="0" cy="0"/>
        </a:xfrm>
      </p:grpSpPr>
      <p:sp>
        <p:nvSpPr>
          <p:cNvPr id="33" name="Google Shape;33;p19"/>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19"/>
          <p:cNvSpPr txBox="1">
            <a:spLocks noGrp="1"/>
          </p:cNvSpPr>
          <p:nvPr>
            <p:ph type="body" idx="1"/>
          </p:nvPr>
        </p:nvSpPr>
        <p:spPr>
          <a:xfrm>
            <a:off x="685800" y="2194559"/>
            <a:ext cx="53340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5" name="Google Shape;35;p19"/>
          <p:cNvSpPr txBox="1">
            <a:spLocks noGrp="1"/>
          </p:cNvSpPr>
          <p:nvPr>
            <p:ph type="body" idx="2"/>
          </p:nvPr>
        </p:nvSpPr>
        <p:spPr>
          <a:xfrm>
            <a:off x="6172200" y="2194559"/>
            <a:ext cx="53340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6" name="Google Shape;36;p19"/>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19"/>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9"/>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9"/>
        <p:cNvGrpSpPr/>
        <p:nvPr/>
      </p:nvGrpSpPr>
      <p:grpSpPr>
        <a:xfrm>
          <a:off x="0" y="0"/>
          <a:ext cx="0" cy="0"/>
          <a:chOff x="0" y="0"/>
          <a:chExt cx="0" cy="0"/>
        </a:xfrm>
      </p:grpSpPr>
      <p:sp>
        <p:nvSpPr>
          <p:cNvPr id="40" name="Google Shape;40;p20"/>
          <p:cNvSpPr txBox="1">
            <a:spLocks noGrp="1"/>
          </p:cNvSpPr>
          <p:nvPr>
            <p:ph type="title"/>
          </p:nvPr>
        </p:nvSpPr>
        <p:spPr>
          <a:xfrm>
            <a:off x="2895600" y="762000"/>
            <a:ext cx="8610600" cy="12954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0"/>
          <p:cNvSpPr txBox="1">
            <a:spLocks noGrp="1"/>
          </p:cNvSpPr>
          <p:nvPr>
            <p:ph type="body" idx="1"/>
          </p:nvPr>
        </p:nvSpPr>
        <p:spPr>
          <a:xfrm>
            <a:off x="914409" y="2183802"/>
            <a:ext cx="5079991"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800"/>
              <a:buNone/>
              <a:defRPr sz="28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2" name="Google Shape;42;p20"/>
          <p:cNvSpPr txBox="1">
            <a:spLocks noGrp="1"/>
          </p:cNvSpPr>
          <p:nvPr>
            <p:ph type="body" idx="2"/>
          </p:nvPr>
        </p:nvSpPr>
        <p:spPr>
          <a:xfrm>
            <a:off x="685800" y="3132666"/>
            <a:ext cx="5311775" cy="308601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3" name="Google Shape;43;p20"/>
          <p:cNvSpPr txBox="1">
            <a:spLocks noGrp="1"/>
          </p:cNvSpPr>
          <p:nvPr>
            <p:ph type="body" idx="3"/>
          </p:nvPr>
        </p:nvSpPr>
        <p:spPr>
          <a:xfrm>
            <a:off x="6400800" y="2183802"/>
            <a:ext cx="510540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800"/>
              <a:buNone/>
              <a:defRPr sz="28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4" name="Google Shape;44;p20"/>
          <p:cNvSpPr txBox="1">
            <a:spLocks noGrp="1"/>
          </p:cNvSpPr>
          <p:nvPr>
            <p:ph type="body" idx="4"/>
          </p:nvPr>
        </p:nvSpPr>
        <p:spPr>
          <a:xfrm>
            <a:off x="6172200" y="3132666"/>
            <a:ext cx="5334000" cy="308601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5" name="Google Shape;45;p20"/>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0"/>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0"/>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8"/>
        <p:cNvGrpSpPr/>
        <p:nvPr/>
      </p:nvGrpSpPr>
      <p:grpSpPr>
        <a:xfrm>
          <a:off x="0" y="0"/>
          <a:ext cx="0" cy="0"/>
          <a:chOff x="0" y="0"/>
          <a:chExt cx="0" cy="0"/>
        </a:xfrm>
      </p:grpSpPr>
      <p:sp>
        <p:nvSpPr>
          <p:cNvPr id="49" name="Google Shape;49;p2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1"/>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1"/>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1"/>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22"/>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22"/>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22"/>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23"/>
          <p:cNvSpPr txBox="1">
            <a:spLocks noGrp="1"/>
          </p:cNvSpPr>
          <p:nvPr>
            <p:ph type="title"/>
          </p:nvPr>
        </p:nvSpPr>
        <p:spPr>
          <a:xfrm>
            <a:off x="685800" y="1524000"/>
            <a:ext cx="41148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23"/>
          <p:cNvSpPr txBox="1">
            <a:spLocks noGrp="1"/>
          </p:cNvSpPr>
          <p:nvPr>
            <p:ph type="body" idx="1"/>
          </p:nvPr>
        </p:nvSpPr>
        <p:spPr>
          <a:xfrm>
            <a:off x="4995582" y="746759"/>
            <a:ext cx="6510618" cy="5471925"/>
          </a:xfrm>
          <a:prstGeom prst="rect">
            <a:avLst/>
          </a:prstGeom>
          <a:noFill/>
          <a:ln>
            <a:noFill/>
          </a:ln>
        </p:spPr>
        <p:txBody>
          <a:bodyPr spcFirstLastPara="1" wrap="square" lIns="91425" tIns="45700" rIns="91425" bIns="45700" anchor="ctr"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60" name="Google Shape;60;p23"/>
          <p:cNvSpPr txBox="1">
            <a:spLocks noGrp="1"/>
          </p:cNvSpPr>
          <p:nvPr>
            <p:ph type="body" idx="2"/>
          </p:nvPr>
        </p:nvSpPr>
        <p:spPr>
          <a:xfrm>
            <a:off x="685800" y="3124199"/>
            <a:ext cx="4114800" cy="30944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61" name="Google Shape;61;p23"/>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23"/>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3"/>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24"/>
          <p:cNvSpPr txBox="1">
            <a:spLocks noGrp="1"/>
          </p:cNvSpPr>
          <p:nvPr>
            <p:ph type="title"/>
          </p:nvPr>
        </p:nvSpPr>
        <p:spPr>
          <a:xfrm>
            <a:off x="685800" y="1524000"/>
            <a:ext cx="687324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24"/>
          <p:cNvSpPr>
            <a:spLocks noGrp="1"/>
          </p:cNvSpPr>
          <p:nvPr>
            <p:ph type="pic" idx="2"/>
          </p:nvPr>
        </p:nvSpPr>
        <p:spPr>
          <a:xfrm>
            <a:off x="7861238" y="751241"/>
            <a:ext cx="3644962" cy="5467443"/>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2800"/>
              <a:buFont typeface="Arial"/>
              <a:buNone/>
              <a:defRPr sz="28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2400"/>
              <a:buFont typeface="Arial"/>
              <a:buNone/>
              <a:defRPr sz="24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9pPr>
          </a:lstStyle>
          <a:p>
            <a:endParaRPr/>
          </a:p>
        </p:txBody>
      </p:sp>
      <p:sp>
        <p:nvSpPr>
          <p:cNvPr id="67" name="Google Shape;67;p24"/>
          <p:cNvSpPr txBox="1">
            <a:spLocks noGrp="1"/>
          </p:cNvSpPr>
          <p:nvPr>
            <p:ph type="body" idx="1"/>
          </p:nvPr>
        </p:nvSpPr>
        <p:spPr>
          <a:xfrm>
            <a:off x="685800" y="3124199"/>
            <a:ext cx="6873240" cy="30944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68" name="Google Shape;68;p24"/>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24"/>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4"/>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anoramic Picture with Caption">
  <p:cSld name="Panoramic Picture with Caption">
    <p:spTree>
      <p:nvGrpSpPr>
        <p:cNvPr id="1" name="Shape 71"/>
        <p:cNvGrpSpPr/>
        <p:nvPr/>
      </p:nvGrpSpPr>
      <p:grpSpPr>
        <a:xfrm>
          <a:off x="0" y="0"/>
          <a:ext cx="0" cy="0"/>
          <a:chOff x="0" y="0"/>
          <a:chExt cx="0" cy="0"/>
        </a:xfrm>
      </p:grpSpPr>
      <p:sp>
        <p:nvSpPr>
          <p:cNvPr id="72" name="Google Shape;72;p25"/>
          <p:cNvSpPr txBox="1">
            <a:spLocks noGrp="1"/>
          </p:cNvSpPr>
          <p:nvPr>
            <p:ph type="title"/>
          </p:nvPr>
        </p:nvSpPr>
        <p:spPr>
          <a:xfrm>
            <a:off x="685777" y="4697360"/>
            <a:ext cx="10822034" cy="81935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25"/>
          <p:cNvSpPr>
            <a:spLocks noGrp="1"/>
          </p:cNvSpPr>
          <p:nvPr>
            <p:ph type="pic" idx="2"/>
          </p:nvPr>
        </p:nvSpPr>
        <p:spPr>
          <a:xfrm>
            <a:off x="681727" y="941439"/>
            <a:ext cx="10821840" cy="3478161"/>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2800"/>
              <a:buFont typeface="Arial"/>
              <a:buNone/>
              <a:defRPr sz="28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2400"/>
              <a:buFont typeface="Arial"/>
              <a:buNone/>
              <a:defRPr sz="24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9pPr>
          </a:lstStyle>
          <a:p>
            <a:endParaRPr/>
          </a:p>
        </p:txBody>
      </p:sp>
      <p:sp>
        <p:nvSpPr>
          <p:cNvPr id="74" name="Google Shape;74;p25"/>
          <p:cNvSpPr txBox="1">
            <a:spLocks noGrp="1"/>
          </p:cNvSpPr>
          <p:nvPr>
            <p:ph type="body" idx="1"/>
          </p:nvPr>
        </p:nvSpPr>
        <p:spPr>
          <a:xfrm>
            <a:off x="685800" y="5516715"/>
            <a:ext cx="10820400" cy="701969"/>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75" name="Google Shape;75;p25"/>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5"/>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5"/>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Title and Caption">
  <p:cSld name="Title and Caption">
    <p:spTree>
      <p:nvGrpSpPr>
        <p:cNvPr id="1" name="Shape 78"/>
        <p:cNvGrpSpPr/>
        <p:nvPr/>
      </p:nvGrpSpPr>
      <p:grpSpPr>
        <a:xfrm>
          <a:off x="0" y="0"/>
          <a:ext cx="0" cy="0"/>
          <a:chOff x="0" y="0"/>
          <a:chExt cx="0" cy="0"/>
        </a:xfrm>
      </p:grpSpPr>
      <p:pic>
        <p:nvPicPr>
          <p:cNvPr id="79" name="Google Shape;79;p26"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80" name="Google Shape;80;p26"/>
          <p:cNvSpPr txBox="1">
            <a:spLocks noGrp="1"/>
          </p:cNvSpPr>
          <p:nvPr>
            <p:ph type="title"/>
          </p:nvPr>
        </p:nvSpPr>
        <p:spPr>
          <a:xfrm>
            <a:off x="685800" y="753532"/>
            <a:ext cx="10820400" cy="280246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26"/>
          <p:cNvSpPr txBox="1">
            <a:spLocks noGrp="1"/>
          </p:cNvSpPr>
          <p:nvPr>
            <p:ph type="body" idx="1"/>
          </p:nvPr>
        </p:nvSpPr>
        <p:spPr>
          <a:xfrm>
            <a:off x="1024467" y="3649133"/>
            <a:ext cx="10130516" cy="999067"/>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82" name="Google Shape;82;p26"/>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26"/>
          <p:cNvSpPr txBox="1">
            <a:spLocks noGrp="1"/>
          </p:cNvSpPr>
          <p:nvPr>
            <p:ph type="ftr" idx="11"/>
          </p:nvPr>
        </p:nvSpPr>
        <p:spPr>
          <a:xfrm>
            <a:off x="685800" y="379941"/>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26"/>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Quote with Caption">
  <p:cSld name="Quote with Caption">
    <p:spTree>
      <p:nvGrpSpPr>
        <p:cNvPr id="1" name="Shape 85"/>
        <p:cNvGrpSpPr/>
        <p:nvPr/>
      </p:nvGrpSpPr>
      <p:grpSpPr>
        <a:xfrm>
          <a:off x="0" y="0"/>
          <a:ext cx="0" cy="0"/>
          <a:chOff x="0" y="0"/>
          <a:chExt cx="0" cy="0"/>
        </a:xfrm>
      </p:grpSpPr>
      <p:pic>
        <p:nvPicPr>
          <p:cNvPr id="86" name="Google Shape;86;p27"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87" name="Google Shape;87;p27"/>
          <p:cNvSpPr txBox="1">
            <a:spLocks noGrp="1"/>
          </p:cNvSpPr>
          <p:nvPr>
            <p:ph type="title"/>
          </p:nvPr>
        </p:nvSpPr>
        <p:spPr>
          <a:xfrm>
            <a:off x="1024467" y="753533"/>
            <a:ext cx="10151533" cy="260449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27"/>
          <p:cNvSpPr txBox="1">
            <a:spLocks noGrp="1"/>
          </p:cNvSpPr>
          <p:nvPr>
            <p:ph type="body" idx="1"/>
          </p:nvPr>
        </p:nvSpPr>
        <p:spPr>
          <a:xfrm>
            <a:off x="1303865" y="3365556"/>
            <a:ext cx="9592736" cy="44444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89" name="Google Shape;89;p27"/>
          <p:cNvSpPr txBox="1">
            <a:spLocks noGrp="1"/>
          </p:cNvSpPr>
          <p:nvPr>
            <p:ph type="body" idx="2"/>
          </p:nvPr>
        </p:nvSpPr>
        <p:spPr>
          <a:xfrm>
            <a:off x="1024467" y="3959862"/>
            <a:ext cx="10151533" cy="679871"/>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90" name="Google Shape;90;p27"/>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27"/>
          <p:cNvSpPr txBox="1">
            <a:spLocks noGrp="1"/>
          </p:cNvSpPr>
          <p:nvPr>
            <p:ph type="ftr" idx="11"/>
          </p:nvPr>
        </p:nvSpPr>
        <p:spPr>
          <a:xfrm>
            <a:off x="685800" y="379941"/>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27"/>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
        <p:nvSpPr>
          <p:cNvPr id="93" name="Google Shape;93;p27"/>
          <p:cNvSpPr txBox="1"/>
          <p:nvPr/>
        </p:nvSpPr>
        <p:spPr>
          <a:xfrm>
            <a:off x="476250" y="933450"/>
            <a:ext cx="609600" cy="58477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lt1"/>
              </a:buClr>
              <a:buSzPts val="8000"/>
              <a:buFont typeface="Century Gothic"/>
              <a:buNone/>
            </a:pPr>
            <a:r>
              <a:rPr lang="en-US" sz="8000" b="0" i="0" u="none" strike="noStrike" cap="none">
                <a:solidFill>
                  <a:schemeClr val="lt1"/>
                </a:solidFill>
                <a:latin typeface="Century Gothic"/>
                <a:ea typeface="Century Gothic"/>
                <a:cs typeface="Century Gothic"/>
                <a:sym typeface="Century Gothic"/>
              </a:rPr>
              <a:t>“</a:t>
            </a:r>
            <a:endParaRPr sz="1400" b="0" i="0" u="none" strike="noStrike" cap="none">
              <a:solidFill>
                <a:srgbClr val="000000"/>
              </a:solidFill>
              <a:latin typeface="Arial"/>
              <a:ea typeface="Arial"/>
              <a:cs typeface="Arial"/>
              <a:sym typeface="Arial"/>
            </a:endParaRPr>
          </a:p>
        </p:txBody>
      </p:sp>
      <p:sp>
        <p:nvSpPr>
          <p:cNvPr id="94" name="Google Shape;94;p27"/>
          <p:cNvSpPr txBox="1"/>
          <p:nvPr/>
        </p:nvSpPr>
        <p:spPr>
          <a:xfrm>
            <a:off x="10984230" y="2701290"/>
            <a:ext cx="609600" cy="584776"/>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lt1"/>
              </a:buClr>
              <a:buSzPts val="8000"/>
              <a:buFont typeface="Century Gothic"/>
              <a:buNone/>
            </a:pPr>
            <a:r>
              <a:rPr lang="en-US" sz="8000" b="0" i="0" u="none" strike="noStrike" cap="none">
                <a:solidFill>
                  <a:schemeClr val="lt1"/>
                </a:solidFill>
                <a:latin typeface="Century Gothic"/>
                <a:ea typeface="Century Gothic"/>
                <a:cs typeface="Century Gothic"/>
                <a:sym typeface="Century Gothic"/>
              </a:rPr>
              <a:t>”</a:t>
            </a: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Name Card">
  <p:cSld name="Name Card">
    <p:spTree>
      <p:nvGrpSpPr>
        <p:cNvPr id="1" name="Shape 95"/>
        <p:cNvGrpSpPr/>
        <p:nvPr/>
      </p:nvGrpSpPr>
      <p:grpSpPr>
        <a:xfrm>
          <a:off x="0" y="0"/>
          <a:ext cx="0" cy="0"/>
          <a:chOff x="0" y="0"/>
          <a:chExt cx="0" cy="0"/>
        </a:xfrm>
      </p:grpSpPr>
      <p:pic>
        <p:nvPicPr>
          <p:cNvPr id="96" name="Google Shape;96;p28"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97" name="Google Shape;97;p28"/>
          <p:cNvSpPr txBox="1">
            <a:spLocks noGrp="1"/>
          </p:cNvSpPr>
          <p:nvPr>
            <p:ph type="title"/>
          </p:nvPr>
        </p:nvSpPr>
        <p:spPr>
          <a:xfrm>
            <a:off x="1024495" y="1124701"/>
            <a:ext cx="10146186" cy="251183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 name="Google Shape;98;p28"/>
          <p:cNvSpPr txBox="1">
            <a:spLocks noGrp="1"/>
          </p:cNvSpPr>
          <p:nvPr>
            <p:ph type="body" idx="1"/>
          </p:nvPr>
        </p:nvSpPr>
        <p:spPr>
          <a:xfrm>
            <a:off x="1024467" y="3648315"/>
            <a:ext cx="10144654" cy="9998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99" name="Google Shape;99;p28"/>
          <p:cNvSpPr txBox="1">
            <a:spLocks noGrp="1"/>
          </p:cNvSpPr>
          <p:nvPr>
            <p:ph type="dt" idx="10"/>
          </p:nvPr>
        </p:nvSpPr>
        <p:spPr>
          <a:xfrm>
            <a:off x="7814452" y="378883"/>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0" name="Google Shape;100;p28"/>
          <p:cNvSpPr txBox="1">
            <a:spLocks noGrp="1"/>
          </p:cNvSpPr>
          <p:nvPr>
            <p:ph type="ftr" idx="11"/>
          </p:nvPr>
        </p:nvSpPr>
        <p:spPr>
          <a:xfrm>
            <a:off x="685800" y="378883"/>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1" name="Google Shape;101;p28"/>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3 Column">
  <p:cSld name="3 Column">
    <p:spTree>
      <p:nvGrpSpPr>
        <p:cNvPr id="1" name="Shape 102"/>
        <p:cNvGrpSpPr/>
        <p:nvPr/>
      </p:nvGrpSpPr>
      <p:grpSpPr>
        <a:xfrm>
          <a:off x="0" y="0"/>
          <a:ext cx="0" cy="0"/>
          <a:chOff x="0" y="0"/>
          <a:chExt cx="0" cy="0"/>
        </a:xfrm>
      </p:grpSpPr>
      <p:sp>
        <p:nvSpPr>
          <p:cNvPr id="103" name="Google Shape;103;p29"/>
          <p:cNvSpPr txBox="1">
            <a:spLocks noGrp="1"/>
          </p:cNvSpPr>
          <p:nvPr>
            <p:ph type="title"/>
          </p:nvPr>
        </p:nvSpPr>
        <p:spPr>
          <a:xfrm>
            <a:off x="2895600" y="761999"/>
            <a:ext cx="8610599" cy="1303867"/>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4" name="Google Shape;104;p29"/>
          <p:cNvSpPr txBox="1">
            <a:spLocks noGrp="1"/>
          </p:cNvSpPr>
          <p:nvPr>
            <p:ph type="body" idx="1"/>
          </p:nvPr>
        </p:nvSpPr>
        <p:spPr>
          <a:xfrm>
            <a:off x="685800" y="2202080"/>
            <a:ext cx="3456432" cy="617320"/>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5" name="Google Shape;105;p29"/>
          <p:cNvSpPr txBox="1">
            <a:spLocks noGrp="1"/>
          </p:cNvSpPr>
          <p:nvPr>
            <p:ph type="body" idx="2"/>
          </p:nvPr>
        </p:nvSpPr>
        <p:spPr>
          <a:xfrm>
            <a:off x="685799" y="2904565"/>
            <a:ext cx="3456432" cy="331413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06" name="Google Shape;106;p29"/>
          <p:cNvSpPr txBox="1">
            <a:spLocks noGrp="1"/>
          </p:cNvSpPr>
          <p:nvPr>
            <p:ph type="body" idx="3"/>
          </p:nvPr>
        </p:nvSpPr>
        <p:spPr>
          <a:xfrm>
            <a:off x="4368800" y="2201333"/>
            <a:ext cx="3456432" cy="626534"/>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7" name="Google Shape;107;p29"/>
          <p:cNvSpPr txBox="1">
            <a:spLocks noGrp="1"/>
          </p:cNvSpPr>
          <p:nvPr>
            <p:ph type="body" idx="4"/>
          </p:nvPr>
        </p:nvSpPr>
        <p:spPr>
          <a:xfrm>
            <a:off x="4366858" y="2904067"/>
            <a:ext cx="3456432" cy="331461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08" name="Google Shape;108;p29"/>
          <p:cNvSpPr txBox="1">
            <a:spLocks noGrp="1"/>
          </p:cNvSpPr>
          <p:nvPr>
            <p:ph type="body" idx="5"/>
          </p:nvPr>
        </p:nvSpPr>
        <p:spPr>
          <a:xfrm>
            <a:off x="8051800" y="2192866"/>
            <a:ext cx="3456432" cy="626534"/>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9" name="Google Shape;109;p29"/>
          <p:cNvSpPr txBox="1">
            <a:spLocks noGrp="1"/>
          </p:cNvSpPr>
          <p:nvPr>
            <p:ph type="body" idx="6"/>
          </p:nvPr>
        </p:nvSpPr>
        <p:spPr>
          <a:xfrm>
            <a:off x="8051801" y="2904565"/>
            <a:ext cx="3456432" cy="331413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10" name="Google Shape;110;p29"/>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1" name="Google Shape;111;p29"/>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2" name="Google Shape;112;p29"/>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3 Picture Column">
  <p:cSld name="3 Picture Column">
    <p:spTree>
      <p:nvGrpSpPr>
        <p:cNvPr id="1" name="Shape 113"/>
        <p:cNvGrpSpPr/>
        <p:nvPr/>
      </p:nvGrpSpPr>
      <p:grpSpPr>
        <a:xfrm>
          <a:off x="0" y="0"/>
          <a:ext cx="0" cy="0"/>
          <a:chOff x="0" y="0"/>
          <a:chExt cx="0" cy="0"/>
        </a:xfrm>
      </p:grpSpPr>
      <p:sp>
        <p:nvSpPr>
          <p:cNvPr id="114" name="Google Shape;114;p30"/>
          <p:cNvSpPr txBox="1">
            <a:spLocks noGrp="1"/>
          </p:cNvSpPr>
          <p:nvPr>
            <p:ph type="title"/>
          </p:nvPr>
        </p:nvSpPr>
        <p:spPr>
          <a:xfrm>
            <a:off x="2895600" y="762000"/>
            <a:ext cx="8610599" cy="12954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5" name="Google Shape;115;p30"/>
          <p:cNvSpPr txBox="1">
            <a:spLocks noGrp="1"/>
          </p:cNvSpPr>
          <p:nvPr>
            <p:ph type="body" idx="1"/>
          </p:nvPr>
        </p:nvSpPr>
        <p:spPr>
          <a:xfrm>
            <a:off x="688618" y="4191000"/>
            <a:ext cx="3451582"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6" name="Google Shape;116;p30"/>
          <p:cNvSpPr>
            <a:spLocks noGrp="1"/>
          </p:cNvSpPr>
          <p:nvPr>
            <p:ph type="pic" idx="2"/>
          </p:nvPr>
        </p:nvSpPr>
        <p:spPr>
          <a:xfrm>
            <a:off x="688618" y="2362200"/>
            <a:ext cx="3451582"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17" name="Google Shape;117;p30"/>
          <p:cNvSpPr txBox="1">
            <a:spLocks noGrp="1"/>
          </p:cNvSpPr>
          <p:nvPr>
            <p:ph type="body" idx="3"/>
          </p:nvPr>
        </p:nvSpPr>
        <p:spPr>
          <a:xfrm>
            <a:off x="688618" y="4873764"/>
            <a:ext cx="3451582"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18" name="Google Shape;118;p30"/>
          <p:cNvSpPr txBox="1">
            <a:spLocks noGrp="1"/>
          </p:cNvSpPr>
          <p:nvPr>
            <p:ph type="body" idx="4"/>
          </p:nvPr>
        </p:nvSpPr>
        <p:spPr>
          <a:xfrm>
            <a:off x="4374263" y="4191000"/>
            <a:ext cx="3448935"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9" name="Google Shape;119;p30"/>
          <p:cNvSpPr>
            <a:spLocks noGrp="1"/>
          </p:cNvSpPr>
          <p:nvPr>
            <p:ph type="pic" idx="5"/>
          </p:nvPr>
        </p:nvSpPr>
        <p:spPr>
          <a:xfrm>
            <a:off x="4374263" y="2362200"/>
            <a:ext cx="3448936"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20" name="Google Shape;120;p30"/>
          <p:cNvSpPr txBox="1">
            <a:spLocks noGrp="1"/>
          </p:cNvSpPr>
          <p:nvPr>
            <p:ph type="body" idx="6"/>
          </p:nvPr>
        </p:nvSpPr>
        <p:spPr>
          <a:xfrm>
            <a:off x="4374264" y="4873763"/>
            <a:ext cx="3448935"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21" name="Google Shape;121;p30"/>
          <p:cNvSpPr txBox="1">
            <a:spLocks noGrp="1"/>
          </p:cNvSpPr>
          <p:nvPr>
            <p:ph type="body" idx="7"/>
          </p:nvPr>
        </p:nvSpPr>
        <p:spPr>
          <a:xfrm>
            <a:off x="8049731" y="4191000"/>
            <a:ext cx="3456469"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22" name="Google Shape;122;p30"/>
          <p:cNvSpPr>
            <a:spLocks noGrp="1"/>
          </p:cNvSpPr>
          <p:nvPr>
            <p:ph type="pic" idx="8"/>
          </p:nvPr>
        </p:nvSpPr>
        <p:spPr>
          <a:xfrm>
            <a:off x="8049855" y="2362200"/>
            <a:ext cx="3447878"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23" name="Google Shape;123;p30"/>
          <p:cNvSpPr txBox="1">
            <a:spLocks noGrp="1"/>
          </p:cNvSpPr>
          <p:nvPr>
            <p:ph type="body" idx="9"/>
          </p:nvPr>
        </p:nvSpPr>
        <p:spPr>
          <a:xfrm>
            <a:off x="8049731" y="4873761"/>
            <a:ext cx="3452445"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24" name="Google Shape;124;p30"/>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5" name="Google Shape;125;p30"/>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6" name="Google Shape;126;p30"/>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27"/>
        <p:cNvGrpSpPr/>
        <p:nvPr/>
      </p:nvGrpSpPr>
      <p:grpSpPr>
        <a:xfrm>
          <a:off x="0" y="0"/>
          <a:ext cx="0" cy="0"/>
          <a:chOff x="0" y="0"/>
          <a:chExt cx="0" cy="0"/>
        </a:xfrm>
      </p:grpSpPr>
      <p:sp>
        <p:nvSpPr>
          <p:cNvPr id="128" name="Google Shape;128;p3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9" name="Google Shape;129;p31"/>
          <p:cNvSpPr txBox="1">
            <a:spLocks noGrp="1"/>
          </p:cNvSpPr>
          <p:nvPr>
            <p:ph type="body" idx="1"/>
          </p:nvPr>
        </p:nvSpPr>
        <p:spPr>
          <a:xfrm rot="5400000">
            <a:off x="4083937" y="-1203579"/>
            <a:ext cx="4024125" cy="10820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0" name="Google Shape;130;p31"/>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1" name="Google Shape;131;p31"/>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2" name="Google Shape;132;p31"/>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133"/>
        <p:cNvGrpSpPr/>
        <p:nvPr/>
      </p:nvGrpSpPr>
      <p:grpSpPr>
        <a:xfrm>
          <a:off x="0" y="0"/>
          <a:ext cx="0" cy="0"/>
          <a:chOff x="0" y="0"/>
          <a:chExt cx="0" cy="0"/>
        </a:xfrm>
      </p:grpSpPr>
      <p:pic>
        <p:nvPicPr>
          <p:cNvPr id="134" name="Google Shape;134;p32"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135" name="Google Shape;135;p32"/>
          <p:cNvSpPr txBox="1">
            <a:spLocks noGrp="1"/>
          </p:cNvSpPr>
          <p:nvPr>
            <p:ph type="title"/>
          </p:nvPr>
        </p:nvSpPr>
        <p:spPr>
          <a:xfrm rot="5400000">
            <a:off x="8525933" y="1667933"/>
            <a:ext cx="3903133" cy="20574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000"/>
              <a:buFont typeface="Century Gothic"/>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6" name="Google Shape;136;p32"/>
          <p:cNvSpPr txBox="1">
            <a:spLocks noGrp="1"/>
          </p:cNvSpPr>
          <p:nvPr>
            <p:ph type="body" idx="1"/>
          </p:nvPr>
        </p:nvSpPr>
        <p:spPr>
          <a:xfrm rot="5400000">
            <a:off x="3175000" y="-1405467"/>
            <a:ext cx="3903133" cy="820420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7" name="Google Shape;137;p32"/>
          <p:cNvSpPr txBox="1">
            <a:spLocks noGrp="1"/>
          </p:cNvSpPr>
          <p:nvPr>
            <p:ph type="dt" idx="10"/>
          </p:nvPr>
        </p:nvSpPr>
        <p:spPr>
          <a:xfrm>
            <a:off x="7814452" y="379941"/>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8" name="Google Shape;138;p32"/>
          <p:cNvSpPr txBox="1">
            <a:spLocks noGrp="1"/>
          </p:cNvSpPr>
          <p:nvPr>
            <p:ph type="ftr" idx="11"/>
          </p:nvPr>
        </p:nvSpPr>
        <p:spPr>
          <a:xfrm>
            <a:off x="685800" y="381000"/>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9" name="Google Shape;139;p32"/>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5"/>
        <p:cNvGrpSpPr/>
        <p:nvPr/>
      </p:nvGrpSpPr>
      <p:grpSpPr>
        <a:xfrm>
          <a:off x="0" y="0"/>
          <a:ext cx="0" cy="0"/>
          <a:chOff x="0" y="0"/>
          <a:chExt cx="0" cy="0"/>
        </a:xfrm>
      </p:grpSpPr>
      <p:pic>
        <p:nvPicPr>
          <p:cNvPr id="6" name="Google Shape;6;p15" descr="C0-HD-TOP.png"/>
          <p:cNvPicPr preferRelativeResize="0"/>
          <p:nvPr/>
        </p:nvPicPr>
        <p:blipFill rotWithShape="1">
          <a:blip r:embed="rId19">
            <a:alphaModFix/>
          </a:blip>
          <a:srcRect/>
          <a:stretch/>
        </p:blipFill>
        <p:spPr>
          <a:xfrm>
            <a:off x="0" y="0"/>
            <a:ext cx="12192000" cy="1441450"/>
          </a:xfrm>
          <a:prstGeom prst="rect">
            <a:avLst/>
          </a:prstGeom>
          <a:noFill/>
          <a:ln>
            <a:noFill/>
          </a:ln>
        </p:spPr>
      </p:pic>
      <p:sp>
        <p:nvSpPr>
          <p:cNvPr id="7" name="Google Shape;7;p15"/>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marR="0" lvl="0" algn="r" rtl="0">
              <a:lnSpc>
                <a:spcPct val="90000"/>
              </a:lnSpc>
              <a:spcBef>
                <a:spcPts val="0"/>
              </a:spcBef>
              <a:spcAft>
                <a:spcPts val="0"/>
              </a:spcAft>
              <a:buClr>
                <a:schemeClr val="lt1"/>
              </a:buClr>
              <a:buSzPts val="4000"/>
              <a:buFont typeface="Century Gothic"/>
              <a:buNone/>
              <a:defRPr sz="400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 name="Google Shape;8;p15"/>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lvl1pPr marL="457200" marR="0" lvl="0" indent="-368300" algn="l" rtl="0">
              <a:lnSpc>
                <a:spcPct val="90000"/>
              </a:lnSpc>
              <a:spcBef>
                <a:spcPts val="1000"/>
              </a:spcBef>
              <a:spcAft>
                <a:spcPts val="0"/>
              </a:spcAft>
              <a:buClr>
                <a:schemeClr val="lt1"/>
              </a:buClr>
              <a:buSzPts val="2200"/>
              <a:buFont typeface="Arial"/>
              <a:buChar char="•"/>
              <a:defRPr sz="2200" b="0" i="0" u="none" strike="noStrike" cap="none">
                <a:solidFill>
                  <a:schemeClr val="lt1"/>
                </a:solidFill>
                <a:latin typeface="Century Gothic"/>
                <a:ea typeface="Century Gothic"/>
                <a:cs typeface="Century Gothic"/>
                <a:sym typeface="Century Gothic"/>
              </a:defRPr>
            </a:lvl1pPr>
            <a:lvl2pPr marL="914400" marR="0" lvl="1" indent="-355600" algn="l" rtl="0">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Century Gothic"/>
                <a:ea typeface="Century Gothic"/>
                <a:cs typeface="Century Gothic"/>
                <a:sym typeface="Century Gothic"/>
              </a:defRPr>
            </a:lvl2pPr>
            <a:lvl3pPr marL="1371600" marR="0" lvl="2"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entury Gothic"/>
                <a:ea typeface="Century Gothic"/>
                <a:cs typeface="Century Gothic"/>
                <a:sym typeface="Century Gothic"/>
              </a:defRPr>
            </a:lvl3pPr>
            <a:lvl4pPr marL="1828800" marR="0" lvl="3"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4pPr>
            <a:lvl5pPr marL="2286000" marR="0" lvl="4"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5pPr>
            <a:lvl6pPr marL="2743200" marR="0" lvl="5"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6pPr>
            <a:lvl7pPr marL="3200400" marR="0" lvl="6"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7pPr>
            <a:lvl8pPr marL="3657600" marR="0" lvl="7"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8pPr>
            <a:lvl9pPr marL="4114800" marR="0" lvl="8"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9" name="Google Shape;9;p15"/>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105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0" name="Google Shape;10;p15"/>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05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1" name="Google Shape;11;p15"/>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 Id="rId5" Type="http://schemas.openxmlformats.org/officeDocument/2006/relationships/image" Target="../media/image3.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4.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5.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8.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9.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10.xml"/><Relationship Id="rId5" Type="http://schemas.openxmlformats.org/officeDocument/2006/relationships/image" Target="../media/image3.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11.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12.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3.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4.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15.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4" Type="http://schemas.openxmlformats.org/officeDocument/2006/relationships/image" Target="../media/image3.png"/><Relationship Id="rIdShot" Type="http://schemas.openxmlformats.org/officeDocument/2006/relationships/image" Target="../media/testexplorer.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4" Type="http://schemas.openxmlformats.org/officeDocument/2006/relationships/image" Target="../media/image3.png"/><Relationship Id="rIdShot" Type="http://schemas.openxmlformats.org/officeDocument/2006/relationships/image" Target="../media/testexplorer.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4" Type="http://schemas.openxmlformats.org/officeDocument/2006/relationships/image" Target="../media/image3.png"/><Relationship Id="rIdShot" Type="http://schemas.openxmlformats.org/officeDocument/2006/relationships/image" Target="../media/testexplorer.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4" Type="http://schemas.openxmlformats.org/officeDocument/2006/relationships/image" Target="../media/image3.png"/><Relationship Id="rIdShot" Type="http://schemas.openxmlformats.org/officeDocument/2006/relationships/image" Target="../media/testexplorer.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4" Type="http://schemas.openxmlformats.org/officeDocument/2006/relationships/image" Target="../media/image3.png"/><Relationship Id="rIdShot" Type="http://schemas.openxmlformats.org/officeDocument/2006/relationships/image" Target="../media/testexplorer.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4" Type="http://schemas.openxmlformats.org/officeDocument/2006/relationships/image" Target="../media/image3.png"/><Relationship Id="rIdShot" Type="http://schemas.openxmlformats.org/officeDocument/2006/relationships/image" Target="../media/testexplorer.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1"/>
          <p:cNvSpPr txBox="1">
            <a:spLocks noGrp="1"/>
          </p:cNvSpPr>
          <p:nvPr>
            <p:ph type="ctrTitle"/>
          </p:nvPr>
        </p:nvSpPr>
        <p:spPr>
          <a:xfrm>
            <a:off x="1371600" y="1790153"/>
            <a:ext cx="9448800" cy="1825096"/>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1"/>
              </a:buClr>
              <a:buSzPts val="6000"/>
              <a:buFont typeface="Century Gothic"/>
              <a:buNone/>
            </a:pPr>
            <a:r>
              <a:rPr lang="en-US"/>
              <a:t>Green Pace</a:t>
            </a:r>
            <a:endParaRPr/>
          </a:p>
        </p:txBody>
      </p:sp>
      <p:sp>
        <p:nvSpPr>
          <p:cNvPr id="145" name="Google Shape;145;p1"/>
          <p:cNvSpPr txBox="1">
            <a:spLocks noGrp="1"/>
          </p:cNvSpPr>
          <p:nvPr>
            <p:ph type="subTitle" idx="1"/>
          </p:nvPr>
        </p:nvSpPr>
        <p:spPr>
          <a:xfrm>
            <a:off x="1371600" y="3632200"/>
            <a:ext cx="9448800" cy="1561592"/>
          </a:xfrm>
          <a:prstGeom prst="rect">
            <a:avLst/>
          </a:prstGeom>
          <a:noFill/>
          <a:ln>
            <a:noFill/>
          </a:ln>
        </p:spPr>
        <p:txBody>
          <a:bodyPr spcFirstLastPara="1" wrap="square" lIns="91425" tIns="45700" rIns="91425" bIns="45700" anchor="t" anchorCtr="0">
            <a:normAutofit/>
          </a:bodyPr>
          <a:lstStyle/>
          <a:p>
            <a:pPr marL="0" lvl="0" indent="0" algn="l" rtl="0">
              <a:lnSpc>
                <a:spcPct val="70000"/>
              </a:lnSpc>
              <a:spcBef>
                <a:spcPts val="0"/>
              </a:spcBef>
              <a:spcAft>
                <a:spcPts val="0"/>
              </a:spcAft>
              <a:buClr>
                <a:schemeClr val="lt1"/>
              </a:buClr>
              <a:buSzPts val="1850"/>
              <a:buNone/>
            </a:pPr>
            <a:r>
              <a:rPr lang="en-US" sz="1850"/>
              <a:t>Security Policy Presentation</a:t>
            </a:r>
            <a:endParaRPr/>
          </a:p>
          <a:p>
            <a:pPr marL="0" lvl="0" indent="0" algn="l" rtl="0">
              <a:lnSpc>
                <a:spcPct val="70000"/>
              </a:lnSpc>
              <a:spcBef>
                <a:spcPts val="1000"/>
              </a:spcBef>
              <a:spcAft>
                <a:spcPts val="0"/>
              </a:spcAft>
              <a:buClr>
                <a:schemeClr val="lt1"/>
              </a:buClr>
              <a:buSzPts val="1850"/>
              <a:buNone/>
            </a:pPr>
            <a:r>
              <a:rPr lang="en-US" sz="1850"/>
              <a:t>Developer: </a:t>
            </a:r>
            <a:r>
              <a:rPr lang="en-US" sz="1850" i="1"/>
              <a:t>Jared Reiman</a:t>
            </a:r>
            <a:endParaRPr/>
          </a:p>
          <a:p>
            <a:pPr marL="0" lvl="0" indent="0" algn="l" rtl="0">
              <a:lnSpc>
                <a:spcPct val="70000"/>
              </a:lnSpc>
              <a:spcBef>
                <a:spcPts val="1000"/>
              </a:spcBef>
              <a:spcAft>
                <a:spcPts val="0"/>
              </a:spcAft>
              <a:buClr>
                <a:schemeClr val="lt1"/>
              </a:buClr>
              <a:buSzPts val="1850"/>
              <a:buNone/>
            </a:pPr>
            <a:endParaRPr sz="1850" i="1"/>
          </a:p>
        </p:txBody>
      </p:sp>
      <p:pic>
        <p:nvPicPr>
          <p:cNvPr id="146" name="Google Shape;146;p1" descr="Green Pace logo"/>
          <p:cNvPicPr preferRelativeResize="0"/>
          <p:nvPr/>
        </p:nvPicPr>
        <p:blipFill>
          <a:blip r:embed="rId4">
            <a:alphaModFix/>
          </a:blip>
          <a:stretch>
            <a:fillRect/>
          </a:stretch>
        </p:blipFill>
        <p:spPr>
          <a:xfrm>
            <a:off x="7440774" y="659854"/>
            <a:ext cx="2921424" cy="3786772"/>
          </a:xfrm>
          <a:prstGeom prst="rect">
            <a:avLst/>
          </a:prstGeom>
          <a:noFill/>
          <a:ln>
            <a:noFill/>
          </a:ln>
        </p:spPr>
      </p:pic>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3"/>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OVERVIEW: DEFENSE IN DEPTH</a:t>
            </a:r>
            <a:endParaRPr/>
          </a:p>
        </p:txBody>
      </p:sp>
      <p:sp>
        <p:nvSpPr>
          <p:cNvPr id="152" name="Google Shape;152;p3"/>
          <p:cNvSpPr txBox="1">
            <a:spLocks noGrp="1"/>
          </p:cNvSpPr>
          <p:nvPr>
            <p:ph type="body" idx="1"/>
          </p:nvPr>
        </p:nvSpPr>
        <p:spPr>
          <a:xfrm>
            <a:off x="685800" y="1874519"/>
            <a:ext cx="10835640" cy="1051560"/>
          </a:xfrm>
          <a:prstGeom prst="rect">
            <a:avLst/>
          </a:prstGeom>
          <a:noFill/>
          <a:ln>
            <a:noFill/>
          </a:ln>
        </p:spPr>
        <p:txBody>
          <a:bodyPr spcFirstLastPara="1" wrap="square" lIns="91425" tIns="45700" rIns="91425" bIns="45700" anchor="t" anchorCtr="0">
            <a:noAutofit/>
          </a:bodyPr>
          <a:lstStyle/>
          <a:p>
            <a:pPr marL="0" indent="0" algn="l">
              <a:spcBef>
                <a:spcPts val="0"/>
              </a:spcBef>
              <a:buNone/>
            </a:pPr>
            <a:r>
              <a:rPr lang="en-US" sz="1600" dirty="0">
                <a:solidFill>
                  <a:srgbClr val="FFFFFF"/>
                </a:solidFill>
              </a:rPr>
              <a:t xml:space="preserve">Green Pace developers already use good security practices, but not always the same way. This policy puts them in one place: 10 principles, 10 C++ coding standards, and policies for encryption and Triple-A, so the whole team stays in sync as it grows.</a:t>
            </a:r>
            <a:endParaRPr lang="en-US" sz="1600" dirty="0"/>
          </a:p>
          <a:p>
            <a:pPr marL="0" indent="0" algn="l">
              <a:spcBef>
                <a:spcPts val="400"/>
              </a:spcBef>
              <a:buNone/>
            </a:pPr>
            <a:r>
              <a:rPr lang="en-US" sz="1600" dirty="0">
                <a:solidFill>
                  <a:srgbClr val="FFFFFF"/>
                </a:solidFill>
              </a:rPr>
              <a:t xml:space="preserve">The policy covers the app and data layers of defense in depth. If one layer fails, another can still catch the problem.</a:t>
            </a:r>
            <a:endParaRPr lang="en-US" sz="1600" dirty="0"/>
          </a:p>
        </p:txBody>
      </p:sp>
      <p:pic>
        <p:nvPicPr>
          <p:cNvPr id="153" name="Google Shape;153;p3" descr="NHS (Healthcare) Defense in Depth – Shaun Van Niekerk&#10;Screenshot of defense-in-depth best practice of layered security.  This illustration provides a visual representation of the defense-in-depth best practice of layered security.&#10;Shows the following layers of developer defense: Physical security, Cloud security, Perimeter security, network security, Host security, Endpoint security, APP security and critical assets, systems, and data security."/>
          <p:cNvPicPr preferRelativeResize="0"/>
          <p:nvPr/>
        </p:nvPicPr>
        <p:blipFill rotWithShape="1">
          <a:blip r:embed="rId4">
            <a:alphaModFix/>
          </a:blip>
          <a:srcRect/>
          <a:stretch/>
        </p:blipFill>
        <p:spPr>
          <a:xfrm>
            <a:off x="3220940" y="3291840"/>
            <a:ext cx="5749815" cy="3383280"/>
          </a:xfrm>
          <a:prstGeom prst="rect">
            <a:avLst/>
          </a:prstGeom>
          <a:noFill/>
          <a:ln>
            <a:noFill/>
          </a:ln>
        </p:spPr>
      </p:pic>
      <p:pic>
        <p:nvPicPr>
          <p:cNvPr id="154" name="Google Shape;154;p3" descr="Green Pace logo"/>
          <p:cNvPicPr preferRelativeResize="0"/>
          <p:nvPr/>
        </p:nvPicPr>
        <p:blipFill>
          <a:blip r:embed="rId5">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4"/>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THREATS MATRIX</a:t>
            </a:r>
            <a:endParaRPr/>
          </a:p>
        </p:txBody>
      </p:sp>
      <p:sp>
        <p:nvSpPr>
          <p:cNvPr id="160" name="Google Shape;160;p4"/>
          <p:cNvSpPr txBox="1">
            <a:spLocks noGrp="1"/>
          </p:cNvSpPr>
          <p:nvPr>
            <p:ph type="body" idx="1"/>
          </p:nvPr>
        </p:nvSpPr>
        <p:spPr>
          <a:xfrm>
            <a:off x="685800" y="2194550"/>
            <a:ext cx="2486100" cy="4024200"/>
          </a:xfrm>
          <a:prstGeom prst="rect">
            <a:avLst/>
          </a:prstGeom>
          <a:noFill/>
          <a:ln>
            <a:noFill/>
          </a:ln>
        </p:spPr>
        <p:txBody>
          <a:bodyPr spcFirstLastPara="1" wrap="square" lIns="91425" tIns="45700" rIns="91425" bIns="45700" anchor="t" anchorCtr="0">
            <a:noAutofit/>
          </a:bodyPr>
          <a:lstStyle/>
          <a:p>
            <a:pPr marL="0" indent="0" algn="l">
              <a:spcBef>
                <a:spcPts val="0"/>
              </a:spcBef>
              <a:buNone/>
            </a:pPr>
            <a:r>
              <a:rPr lang="en-US" sz="1400" dirty="0">
                <a:solidFill>
                  <a:srgbClr val="FFFFFF"/>
                </a:solidFill>
              </a:rPr>
              <a:t xml:space="preserve">Each standard is placed using the risk assessments in the policy.</a:t>
            </a:r>
            <a:endParaRPr lang="en-US" sz="1400" dirty="0"/>
          </a:p>
          <a:p>
            <a:pPr marL="0" indent="0" algn="l">
              <a:spcBef>
                <a:spcPts val="700"/>
              </a:spcBef>
              <a:buNone/>
            </a:pPr>
            <a:r>
              <a:rPr lang="en-US" sz="1400" b="1" dirty="0">
                <a:solidFill>
                  <a:srgbClr val="FFFFFF"/>
                </a:solidFill>
              </a:rPr>
              <a:t xml:space="preserve">Priority: </a:t>
            </a:r>
            <a:r>
              <a:rPr lang="en-US" sz="1400" dirty="0">
                <a:solidFill>
                  <a:srgbClr val="FFFFFF"/>
                </a:solidFill>
              </a:rPr>
              <a:t xml:space="preserve">likely, high severity, and cheaper to fix. Fix first.</a:t>
            </a:r>
            <a:endParaRPr lang="en-US" sz="1400" dirty="0"/>
          </a:p>
          <a:p>
            <a:pPr marL="0" indent="0" algn="l">
              <a:spcBef>
                <a:spcPts val="700"/>
              </a:spcBef>
              <a:buNone/>
            </a:pPr>
            <a:r>
              <a:rPr lang="en-US" sz="1400" b="1" dirty="0">
                <a:solidFill>
                  <a:srgbClr val="FFFFFF"/>
                </a:solidFill>
              </a:rPr>
              <a:t xml:space="preserve">Likely: </a:t>
            </a:r>
            <a:r>
              <a:rPr lang="en-US" sz="1400" dirty="0">
                <a:solidFill>
                  <a:srgbClr val="FFFFFF"/>
                </a:solidFill>
              </a:rPr>
              <a:t xml:space="preserve">likely and high severity, but costly to fix.</a:t>
            </a:r>
            <a:endParaRPr lang="en-US" sz="1400" dirty="0"/>
          </a:p>
          <a:p>
            <a:pPr marL="0" indent="0" algn="l">
              <a:spcBef>
                <a:spcPts val="700"/>
              </a:spcBef>
              <a:buNone/>
            </a:pPr>
            <a:r>
              <a:rPr lang="en-US" sz="1400" b="1" dirty="0">
                <a:solidFill>
                  <a:srgbClr val="FFFFFF"/>
                </a:solidFill>
              </a:rPr>
              <a:t xml:space="preserve">Unlikely: </a:t>
            </a:r>
            <a:r>
              <a:rPr lang="en-US" sz="1400" dirty="0">
                <a:solidFill>
                  <a:srgbClr val="FFFFFF"/>
                </a:solidFill>
              </a:rPr>
              <a:t xml:space="preserve">less likely, medium severity.</a:t>
            </a:r>
            <a:endParaRPr lang="en-US" sz="1400" dirty="0"/>
          </a:p>
          <a:p>
            <a:pPr marL="0" indent="0" algn="l">
              <a:spcBef>
                <a:spcPts val="700"/>
              </a:spcBef>
              <a:buNone/>
            </a:pPr>
            <a:r>
              <a:rPr lang="en-US" sz="1400" b="1" dirty="0">
                <a:solidFill>
                  <a:srgbClr val="FFFFFF"/>
                </a:solidFill>
              </a:rPr>
              <a:t xml:space="preserve">Low priority: </a:t>
            </a:r>
            <a:r>
              <a:rPr lang="en-US" sz="1400" dirty="0">
                <a:solidFill>
                  <a:srgbClr val="FFFFFF"/>
                </a:solidFill>
              </a:rPr>
              <a:t xml:space="preserve">low severity.</a:t>
            </a:r>
            <a:endParaRPr lang="en-US" sz="1400" dirty="0"/>
          </a:p>
        </p:txBody>
      </p:sp>
      <p:graphicFrame>
        <p:nvGraphicFramePr>
          <p:cNvPr id="161" name="Google Shape;161;p4" descr="Alt text required"/>
          <p:cNvGraphicFramePr/>
          <p:nvPr>
            <p:extLst>
              <p:ext uri="{D42A27DB-BD31-4B8C-83A1-F6EECF244321}">
                <p14:modId xmlns:p14="http://schemas.microsoft.com/office/powerpoint/2010/main" val="4404453"/>
              </p:ext>
            </p:extLst>
          </p:nvPr>
        </p:nvGraphicFramePr>
        <p:xfrm>
          <a:off x="3171900" y="2561050"/>
          <a:ext cx="7835225" cy="3538650"/>
        </p:xfrm>
        <a:graphic>
          <a:graphicData uri="http://schemas.openxmlformats.org/drawingml/2006/table">
            <a:tbl>
              <a:tblPr firstRow="1" firstCol="1">
                <a:noFill/>
                <a:tableStyleId>{802198C4-3087-4945-87E3-76CBB3509B7E}</a:tableStyleId>
              </a:tblPr>
              <a:tblGrid>
                <a:gridCol w="4030425">
                  <a:extLst>
                    <a:ext uri="{9D8B030D-6E8A-4147-A177-3AD203B41FA5}">
                      <a16:colId xmlns:a16="http://schemas.microsoft.com/office/drawing/2014/main" val="20000"/>
                    </a:ext>
                  </a:extLst>
                </a:gridCol>
                <a:gridCol w="3804800">
                  <a:extLst>
                    <a:ext uri="{9D8B030D-6E8A-4147-A177-3AD203B41FA5}">
                      <a16:colId xmlns:a16="http://schemas.microsoft.com/office/drawing/2014/main" val="20001"/>
                    </a:ext>
                  </a:extLst>
                </a:gridCol>
              </a:tblGrid>
              <a:tr h="1769325">
                <a:tc>
                  <a:txBody>
                    <a:bodyPr/>
                    <a:lstStyle/>
                    <a:p>
                      <a:pPr marL="0" indent="0" algn="ctr">
                        <a:spcBef>
                          <a:spcPts val="0"/>
                        </a:spcBef>
                        <a:buNone/>
                      </a:pPr>
                      <a:r>
                        <a:rPr lang="en-US" sz="2400" b="1" dirty="0">
                          <a:solidFill>
                            <a:srgbClr val="7F6000"/>
                          </a:solidFill>
                        </a:rPr>
                        <a:t xml:space="preserve">Likely</a:t>
                      </a:r>
                    </a:p>
                    <a:p>
                      <a:pPr marL="0" indent="0" algn="ctr">
                        <a:spcBef>
                          <a:spcPts val="0"/>
                        </a:spcBef>
                        <a:buNone/>
                      </a:pPr>
                      <a:r>
                        <a:rPr lang="en-US" sz="1600" dirty="0">
                          <a:solidFill>
                            <a:srgbClr val="000000"/>
                          </a:solidFill>
                        </a:rPr>
                        <a:t xml:space="preserve">STD-003-CPP</a:t>
                      </a:r>
                    </a:p>
                    <a:p>
                      <a:pPr marL="0" indent="0" algn="ctr">
                        <a:spcBef>
                          <a:spcPts val="0"/>
                        </a:spcBef>
                        <a:buNone/>
                      </a:pPr>
                      <a:r>
                        <a:rPr lang="en-US" sz="1600" dirty="0">
                          <a:solidFill>
                            <a:srgbClr val="000000"/>
                          </a:solidFill>
                        </a:rPr>
                        <a:t xml:space="preserve">STD-005-CPP</a:t>
                      </a:r>
                    </a:p>
                    <a:p>
                      <a:pPr marL="0" indent="0" algn="ctr">
                        <a:spcBef>
                          <a:spcPts val="0"/>
                        </a:spcBef>
                        <a:buNone/>
                      </a:pPr>
                      <a:r>
                        <a:rPr lang="en-US" sz="1600" dirty="0">
                          <a:solidFill>
                            <a:srgbClr val="000000"/>
                          </a:solidFill>
                        </a:rPr>
                        <a:t xml:space="preserve">STD-008-CPP</a:t>
                      </a:r>
                    </a:p>
                    <a:p>
                      <a:pPr marL="0" indent="0" algn="ctr">
                        <a:spcBef>
                          <a:spcPts val="0"/>
                        </a:spcBef>
                        <a:buNone/>
                      </a:pPr>
                      <a:r>
                        <a:rPr lang="en-US" sz="1600" dirty="0">
                          <a:solidFill>
                            <a:srgbClr val="000000"/>
                          </a:solidFill>
                        </a:rPr>
                        <a:t xml:space="preserve">STD-009-CPP</a:t>
                      </a:r>
                    </a:p>
                    <a:p>
                      <a:pPr marL="0" indent="0" algn="ctr">
                        <a:spcBef>
                          <a:spcPts val="0"/>
                        </a:spcBef>
                        <a:buNone/>
                      </a:pPr>
                      <a:r>
                        <a:rPr lang="en-US" sz="1600" dirty="0">
                          <a:solidFill>
                            <a:srgbClr val="000000"/>
                          </a:solidFill>
                        </a:rPr>
                        <a:t xml:space="preserve">STD-010-CPP</a:t>
                      </a:r>
                    </a:p>
                  </a:txBody>
                  <a:tcPr marL="91425" marR="91425" marT="91425" marB="9142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tc>
                  <a:txBody>
                    <a:bodyPr/>
                    <a:lstStyle/>
                    <a:p>
                      <a:pPr marL="0" indent="0" algn="ctr">
                        <a:spcBef>
                          <a:spcPts val="0"/>
                        </a:spcBef>
                        <a:buNone/>
                      </a:pPr>
                      <a:r>
                        <a:rPr lang="en-US" sz="2400" b="1" dirty="0">
                          <a:solidFill>
                            <a:srgbClr val="7F6000"/>
                          </a:solidFill>
                        </a:rPr>
                        <a:t xml:space="preserve">Priority</a:t>
                      </a:r>
                    </a:p>
                    <a:p>
                      <a:pPr marL="0" indent="0" algn="ctr">
                        <a:spcBef>
                          <a:spcPts val="0"/>
                        </a:spcBef>
                        <a:buNone/>
                      </a:pPr>
                      <a:r>
                        <a:rPr lang="en-US" sz="1600" dirty="0">
                          <a:solidFill>
                            <a:srgbClr val="000000"/>
                          </a:solidFill>
                        </a:rPr>
                        <a:t xml:space="preserve">STD-001-CPP</a:t>
                      </a:r>
                    </a:p>
                    <a:p>
                      <a:pPr marL="0" indent="0" algn="ctr">
                        <a:spcBef>
                          <a:spcPts val="0"/>
                        </a:spcBef>
                        <a:buNone/>
                      </a:pPr>
                      <a:r>
                        <a:rPr lang="en-US" sz="1600" dirty="0">
                          <a:solidFill>
                            <a:srgbClr val="000000"/>
                          </a:solidFill>
                        </a:rPr>
                        <a:t xml:space="preserve">STD-004-CPP</a:t>
                      </a:r>
                    </a:p>
                  </a:txBody>
                  <a:tcPr marL="91425" marR="91425" marT="91425" marB="9142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extLst>
                  <a:ext uri="{0D108BD9-81ED-4DB2-BD59-A6C34878D82A}">
                    <a16:rowId xmlns:a16="http://schemas.microsoft.com/office/drawing/2014/main" val="10000"/>
                  </a:ext>
                </a:extLst>
              </a:tr>
              <a:tr h="1769325">
                <a:tc>
                  <a:txBody>
                    <a:bodyPr/>
                    <a:lstStyle/>
                    <a:p>
                      <a:pPr marL="0" indent="0" algn="ctr">
                        <a:spcBef>
                          <a:spcPts val="0"/>
                        </a:spcBef>
                        <a:buNone/>
                      </a:pPr>
                      <a:r>
                        <a:rPr lang="en-US" sz="2400" b="1" dirty="0">
                          <a:solidFill>
                            <a:srgbClr val="7F6000"/>
                          </a:solidFill>
                        </a:rPr>
                        <a:t xml:space="preserve">Low priority</a:t>
                      </a:r>
                    </a:p>
                    <a:p>
                      <a:pPr marL="0" indent="0" algn="ctr">
                        <a:spcBef>
                          <a:spcPts val="0"/>
                        </a:spcBef>
                        <a:buNone/>
                      </a:pPr>
                      <a:r>
                        <a:rPr lang="en-US" sz="1600" dirty="0">
                          <a:solidFill>
                            <a:srgbClr val="000000"/>
                          </a:solidFill>
                        </a:rPr>
                        <a:t xml:space="preserve">STD-006-CPP</a:t>
                      </a:r>
                    </a:p>
                    <a:p>
                      <a:pPr marL="0" indent="0" algn="ctr">
                        <a:spcBef>
                          <a:spcPts val="0"/>
                        </a:spcBef>
                        <a:buNone/>
                      </a:pPr>
                      <a:r>
                        <a:rPr lang="en-US" sz="1600" dirty="0">
                          <a:solidFill>
                            <a:srgbClr val="000000"/>
                          </a:solidFill>
                        </a:rPr>
                        <a:t xml:space="preserve">STD-007-CPP</a:t>
                      </a:r>
                    </a:p>
                  </a:txBody>
                  <a:tcPr marL="91425" marR="91425" marT="91425" marB="9142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tc>
                  <a:txBody>
                    <a:bodyPr/>
                    <a:lstStyle/>
                    <a:p>
                      <a:pPr marL="0" indent="0" algn="ctr">
                        <a:spcBef>
                          <a:spcPts val="0"/>
                        </a:spcBef>
                        <a:buNone/>
                      </a:pPr>
                      <a:r>
                        <a:rPr lang="en-US" sz="2400" b="1" dirty="0">
                          <a:solidFill>
                            <a:srgbClr val="7F6000"/>
                          </a:solidFill>
                        </a:rPr>
                        <a:t xml:space="preserve">Unlikely</a:t>
                      </a:r>
                    </a:p>
                    <a:p>
                      <a:pPr marL="0" indent="0" algn="ctr">
                        <a:spcBef>
                          <a:spcPts val="0"/>
                        </a:spcBef>
                        <a:buNone/>
                      </a:pPr>
                      <a:r>
                        <a:rPr lang="en-US" sz="1600" dirty="0">
                          <a:solidFill>
                            <a:srgbClr val="000000"/>
                          </a:solidFill>
                        </a:rPr>
                        <a:t xml:space="preserve">STD-002-CPP</a:t>
                      </a:r>
                    </a:p>
                  </a:txBody>
                  <a:tcPr marL="91425" marR="91425" marT="91425" marB="9142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extLst>
                  <a:ext uri="{0D108BD9-81ED-4DB2-BD59-A6C34878D82A}">
                    <a16:rowId xmlns:a16="http://schemas.microsoft.com/office/drawing/2014/main" val="10001"/>
                  </a:ext>
                </a:extLst>
              </a:tr>
            </a:tbl>
          </a:graphicData>
        </a:graphic>
      </p:graphicFrame>
      <p:pic>
        <p:nvPicPr>
          <p:cNvPr id="162" name="Google Shape;162;p4"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5"/>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10 PRINCIPLES</a:t>
            </a:r>
            <a:endParaRPr/>
          </a:p>
        </p:txBody>
      </p:sp>
      <p:sp>
        <p:nvSpPr>
          <p:cNvPr id="168" name="Google Shape;168;p5"/>
          <p:cNvSpPr txBox="1">
            <a:spLocks noGrp="1"/>
          </p:cNvSpPr>
          <p:nvPr>
            <p:ph type="body" idx="1"/>
          </p:nvPr>
        </p:nvSpPr>
        <p:spPr>
          <a:xfrm>
            <a:off x="685800" y="1828800"/>
            <a:ext cx="10058400" cy="4206240"/>
          </a:xfrm>
          <a:prstGeom prst="rect">
            <a:avLst/>
          </a:prstGeom>
          <a:noFill/>
          <a:ln>
            <a:noFill/>
          </a:ln>
        </p:spPr>
        <p:txBody>
          <a:bodyPr spcFirstLastPara="1" wrap="square" lIns="91425" tIns="45700" rIns="91425" bIns="45700" anchor="t" anchorCtr="0">
            <a:noAutofit/>
          </a:bodyPr>
          <a:lstStyle/>
          <a:p>
            <a:pPr marL="0" indent="0" algn="l">
              <a:spcBef>
                <a:spcPts val="600"/>
              </a:spcBef>
              <a:buNone/>
            </a:pPr>
            <a:r>
              <a:rPr lang="en-US" sz="1900" b="1" dirty="0">
                <a:solidFill>
                  <a:srgbClr val="FFFFFF"/>
                </a:solidFill>
              </a:rPr>
              <a:t xml:space="preserve">1. Validate Input Data: </a:t>
            </a:r>
            <a:r>
              <a:rPr lang="en-US" sz="1900" dirty="0">
                <a:solidFill>
                  <a:srgbClr val="FFFFFF"/>
                </a:solidFill>
              </a:rPr>
              <a:t xml:space="preserve">STD-001, 002, 003, 004, 008</a:t>
            </a:r>
            <a:endParaRPr lang="en-US" sz="1900" dirty="0"/>
          </a:p>
          <a:p>
            <a:pPr marL="0" indent="0" algn="l">
              <a:spcBef>
                <a:spcPts val="600"/>
              </a:spcBef>
              <a:buNone/>
            </a:pPr>
            <a:r>
              <a:rPr lang="en-US" sz="1900" b="1" dirty="0">
                <a:solidFill>
                  <a:srgbClr val="FFFFFF"/>
                </a:solidFill>
              </a:rPr>
              <a:t xml:space="preserve">2. Heed Compiler Warnings: </a:t>
            </a:r>
            <a:r>
              <a:rPr lang="en-US" sz="1900" dirty="0">
                <a:solidFill>
                  <a:srgbClr val="FFFFFF"/>
                </a:solidFill>
              </a:rPr>
              <a:t xml:space="preserve">STD-003</a:t>
            </a:r>
            <a:endParaRPr lang="en-US" sz="1900" dirty="0"/>
          </a:p>
          <a:p>
            <a:pPr marL="0" indent="0" algn="l">
              <a:spcBef>
                <a:spcPts val="600"/>
              </a:spcBef>
              <a:buNone/>
            </a:pPr>
            <a:r>
              <a:rPr lang="en-US" sz="1900" b="1" dirty="0">
                <a:solidFill>
                  <a:srgbClr val="FFFFFF"/>
                </a:solidFill>
              </a:rPr>
              <a:t xml:space="preserve">3. Architect and Design for Security Policies: </a:t>
            </a:r>
            <a:r>
              <a:rPr lang="en-US" sz="1900" dirty="0">
                <a:solidFill>
                  <a:srgbClr val="FFFFFF"/>
                </a:solidFill>
              </a:rPr>
              <a:t xml:space="preserve">All 10 standards, built into design</a:t>
            </a:r>
            <a:endParaRPr lang="en-US" sz="1900" dirty="0"/>
          </a:p>
          <a:p>
            <a:pPr marL="0" indent="0" algn="l">
              <a:spcBef>
                <a:spcPts val="600"/>
              </a:spcBef>
              <a:buNone/>
            </a:pPr>
            <a:r>
              <a:rPr lang="en-US" sz="1900" b="1" dirty="0">
                <a:solidFill>
                  <a:srgbClr val="FFFFFF"/>
                </a:solidFill>
              </a:rPr>
              <a:t xml:space="preserve">4. Keep It Simple: </a:t>
            </a:r>
            <a:r>
              <a:rPr lang="en-US" sz="1900" dirty="0">
                <a:solidFill>
                  <a:srgbClr val="FFFFFF"/>
                </a:solidFill>
              </a:rPr>
              <a:t xml:space="preserve">STD-005, 007, 009, 010</a:t>
            </a:r>
            <a:endParaRPr lang="en-US" sz="1900" dirty="0"/>
          </a:p>
          <a:p>
            <a:pPr marL="0" indent="0" algn="l">
              <a:spcBef>
                <a:spcPts val="600"/>
              </a:spcBef>
              <a:buNone/>
            </a:pPr>
            <a:r>
              <a:rPr lang="en-US" sz="1900" b="1" dirty="0">
                <a:solidFill>
                  <a:srgbClr val="FFFFFF"/>
                </a:solidFill>
              </a:rPr>
              <a:t xml:space="preserve">5. Default Deny: </a:t>
            </a:r>
            <a:r>
              <a:rPr lang="en-US" sz="1900" dirty="0">
                <a:solidFill>
                  <a:srgbClr val="FFFFFF"/>
                </a:solidFill>
              </a:rPr>
              <a:t xml:space="preserve">STD-002</a:t>
            </a:r>
            <a:endParaRPr lang="en-US" sz="1900" dirty="0"/>
          </a:p>
          <a:p>
            <a:pPr marL="0" indent="0" algn="l">
              <a:spcBef>
                <a:spcPts val="600"/>
              </a:spcBef>
              <a:buNone/>
            </a:pPr>
            <a:r>
              <a:rPr lang="en-US" sz="1900" b="1" dirty="0">
                <a:solidFill>
                  <a:srgbClr val="FFFFFF"/>
                </a:solidFill>
              </a:rPr>
              <a:t xml:space="preserve">6. Adhere to the Principle of Least Privilege: </a:t>
            </a:r>
            <a:r>
              <a:rPr lang="en-US" sz="1900" dirty="0">
                <a:solidFill>
                  <a:srgbClr val="FFFFFF"/>
                </a:solidFill>
              </a:rPr>
              <a:t xml:space="preserve">Triple-A authorization policy</a:t>
            </a:r>
            <a:endParaRPr lang="en-US" sz="1900" dirty="0"/>
          </a:p>
          <a:p>
            <a:pPr marL="0" indent="0" algn="l">
              <a:spcBef>
                <a:spcPts val="600"/>
              </a:spcBef>
              <a:buNone/>
            </a:pPr>
            <a:r>
              <a:rPr lang="en-US" sz="1900" b="1" dirty="0">
                <a:solidFill>
                  <a:srgbClr val="FFFFFF"/>
                </a:solidFill>
              </a:rPr>
              <a:t xml:space="preserve">7. Sanitize Data Sent to Other Systems: </a:t>
            </a:r>
            <a:r>
              <a:rPr lang="en-US" sz="1900" dirty="0">
                <a:solidFill>
                  <a:srgbClr val="FFFFFF"/>
                </a:solidFill>
              </a:rPr>
              <a:t xml:space="preserve">STD-004</a:t>
            </a:r>
            <a:endParaRPr lang="en-US" sz="1900" dirty="0"/>
          </a:p>
          <a:p>
            <a:pPr marL="0" indent="0" algn="l">
              <a:spcBef>
                <a:spcPts val="600"/>
              </a:spcBef>
              <a:buNone/>
            </a:pPr>
            <a:r>
              <a:rPr lang="en-US" sz="1900" b="1" dirty="0">
                <a:solidFill>
                  <a:srgbClr val="FFFFFF"/>
                </a:solidFill>
              </a:rPr>
              <a:t xml:space="preserve">8. Practice Defense in Depth: </a:t>
            </a:r>
            <a:r>
              <a:rPr lang="en-US" sz="1900" dirty="0">
                <a:solidFill>
                  <a:srgbClr val="FFFFFF"/>
                </a:solidFill>
              </a:rPr>
              <a:t xml:space="preserve">All 10 standards, plus automation</a:t>
            </a:r>
            <a:endParaRPr lang="en-US" sz="1900" dirty="0"/>
          </a:p>
          <a:p>
            <a:pPr marL="0" indent="0" algn="l">
              <a:spcBef>
                <a:spcPts val="600"/>
              </a:spcBef>
              <a:buNone/>
            </a:pPr>
            <a:r>
              <a:rPr lang="en-US" sz="1900" b="1" dirty="0">
                <a:solidFill>
                  <a:srgbClr val="FFFFFF"/>
                </a:solidFill>
              </a:rPr>
              <a:t xml:space="preserve">9. Use Effective Quality Assurance Techniques: </a:t>
            </a:r>
            <a:r>
              <a:rPr lang="en-US" sz="1900" dirty="0">
                <a:solidFill>
                  <a:srgbClr val="FFFFFF"/>
                </a:solidFill>
              </a:rPr>
              <a:t xml:space="preserve">STD-001, 006, 008</a:t>
            </a:r>
            <a:endParaRPr lang="en-US" sz="1900" dirty="0"/>
          </a:p>
          <a:p>
            <a:pPr marL="0" indent="0" algn="l">
              <a:spcBef>
                <a:spcPts val="600"/>
              </a:spcBef>
              <a:buNone/>
            </a:pPr>
            <a:r>
              <a:rPr lang="en-US" sz="1900" b="1" dirty="0">
                <a:solidFill>
                  <a:srgbClr val="FFFFFF"/>
                </a:solidFill>
              </a:rPr>
              <a:t xml:space="preserve">10. Adopt a Secure Coding Standard: </a:t>
            </a:r>
            <a:r>
              <a:rPr lang="en-US" sz="1900" dirty="0">
                <a:solidFill>
                  <a:srgbClr val="FFFFFF"/>
                </a:solidFill>
              </a:rPr>
              <a:t xml:space="preserve">All 10 standards (SEI CERT)</a:t>
            </a:r>
            <a:endParaRPr lang="en-US" sz="1900" dirty="0"/>
          </a:p>
        </p:txBody>
      </p:sp>
      <p:pic>
        <p:nvPicPr>
          <p:cNvPr id="169" name="Google Shape;169;p5"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6"/>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CODING STANDARDS</a:t>
            </a:r>
            <a:endParaRPr/>
          </a:p>
        </p:txBody>
      </p:sp>
      <p:sp>
        <p:nvSpPr>
          <p:cNvPr id="175" name="Google Shape;175;p6"/>
          <p:cNvSpPr txBox="1">
            <a:spLocks noGrp="1"/>
          </p:cNvSpPr>
          <p:nvPr>
            <p:ph type="body" idx="1"/>
          </p:nvPr>
        </p:nvSpPr>
        <p:spPr>
          <a:xfrm>
            <a:off x="685800" y="1828800"/>
            <a:ext cx="10058400" cy="4206240"/>
          </a:xfrm>
          <a:prstGeom prst="rect">
            <a:avLst/>
          </a:prstGeom>
          <a:noFill/>
          <a:ln>
            <a:noFill/>
          </a:ln>
        </p:spPr>
        <p:txBody>
          <a:bodyPr spcFirstLastPara="1" wrap="square" lIns="91425" tIns="45700" rIns="91425" bIns="45700" anchor="t" anchorCtr="0">
            <a:noAutofit/>
          </a:bodyPr>
          <a:lstStyle/>
          <a:p>
            <a:pPr marL="285750" indent="-285750" algn="l">
              <a:spcBef>
                <a:spcPts val="800"/>
              </a:spcBef>
              <a:buClr>
                <a:schemeClr val="lt1"/>
              </a:buClr>
              <a:buSzPct val="100000"/>
              <a:buFont typeface="Arial"/>
              <a:buChar char="•"/>
            </a:pPr>
            <a:r>
              <a:rPr lang="en-US" sz="1900" b="1" dirty="0">
                <a:solidFill>
                  <a:srgbClr val="FFFFFF"/>
                </a:solidFill>
              </a:rPr>
              <a:t xml:space="preserve">Level 5: </a:t>
            </a:r>
            <a:r>
              <a:rPr lang="en-US" sz="1900" dirty="0">
                <a:solidFill>
                  <a:srgbClr val="FFFFFF"/>
                </a:solidFill>
              </a:rPr>
              <a:t xml:space="preserve">STD-001-CPP Integer overflow, STD-004-CPP SQL injection</a:t>
            </a:r>
            <a:endParaRPr lang="en-US" sz="1900" dirty="0"/>
          </a:p>
          <a:p>
            <a:pPr marL="285750" indent="-285750" algn="l">
              <a:spcBef>
                <a:spcPts val="800"/>
              </a:spcBef>
              <a:buClr>
                <a:schemeClr val="lt1"/>
              </a:buClr>
              <a:buSzPct val="100000"/>
              <a:buFont typeface="Arial"/>
              <a:buChar char="•"/>
            </a:pPr>
            <a:r>
              <a:rPr lang="en-US" sz="1900" b="1" dirty="0">
                <a:solidFill>
                  <a:srgbClr val="FFFFFF"/>
                </a:solidFill>
              </a:rPr>
              <a:t xml:space="preserve">Level 4: </a:t>
            </a:r>
            <a:r>
              <a:rPr lang="en-US" sz="1900" dirty="0">
                <a:solidFill>
                  <a:srgbClr val="FFFFFF"/>
                </a:solidFill>
              </a:rPr>
              <a:t xml:space="preserve">STD-003-CPP String storage, STD-005-CPP Freed memory, STD-008-CPP Container range, STD-009-CPP Smart pointer ownership, STD-010-CPP Exception safety</a:t>
            </a:r>
            <a:endParaRPr lang="en-US" sz="1900" dirty="0"/>
          </a:p>
          <a:p>
            <a:pPr marL="285750" indent="-285750" algn="l">
              <a:spcBef>
                <a:spcPts val="800"/>
              </a:spcBef>
              <a:buClr>
                <a:schemeClr val="lt1"/>
              </a:buClr>
              <a:buSzPct val="100000"/>
              <a:buFont typeface="Arial"/>
              <a:buChar char="•"/>
            </a:pPr>
            <a:r>
              <a:rPr lang="en-US" sz="1900" b="1" dirty="0">
                <a:solidFill>
                  <a:srgbClr val="FFFFFF"/>
                </a:solidFill>
              </a:rPr>
              <a:t xml:space="preserve">Level 2: </a:t>
            </a:r>
            <a:r>
              <a:rPr lang="en-US" sz="1900" dirty="0">
                <a:solidFill>
                  <a:srgbClr val="FFFFFF"/>
                </a:solidFill>
              </a:rPr>
              <a:t xml:space="preserve">STD-002-CPP Input validation</a:t>
            </a:r>
            <a:endParaRPr lang="en-US" sz="1900" dirty="0"/>
          </a:p>
          <a:p>
            <a:pPr marL="285750" indent="-285750" algn="l">
              <a:spcBef>
                <a:spcPts val="800"/>
              </a:spcBef>
              <a:buClr>
                <a:schemeClr val="lt1"/>
              </a:buClr>
              <a:buSzPct val="100000"/>
              <a:buFont typeface="Arial"/>
              <a:buChar char="•"/>
            </a:pPr>
            <a:r>
              <a:rPr lang="en-US" sz="1900" b="1" dirty="0">
                <a:solidFill>
                  <a:srgbClr val="FFFFFF"/>
                </a:solidFill>
              </a:rPr>
              <a:t xml:space="preserve">Level 1: </a:t>
            </a:r>
            <a:r>
              <a:rPr lang="en-US" sz="1900" dirty="0">
                <a:solidFill>
                  <a:srgbClr val="FFFFFF"/>
                </a:solidFill>
              </a:rPr>
              <a:t xml:space="preserve">STD-006-CPP Assertions, STD-007-CPP Resource leaks</a:t>
            </a:r>
            <a:endParaRPr lang="en-US" sz="1900" dirty="0"/>
          </a:p>
          <a:p>
            <a:pPr marL="0" indent="0" algn="l">
              <a:spcBef>
                <a:spcPts val="1400"/>
              </a:spcBef>
              <a:buNone/>
            </a:pPr>
            <a:r>
              <a:rPr lang="en-US" sz="1700" b="1" dirty="0">
                <a:solidFill>
                  <a:srgbClr val="FFFFFF"/>
                </a:solidFill>
              </a:rPr>
              <a:t xml:space="preserve">Ranking system: </a:t>
            </a:r>
            <a:r>
              <a:rPr lang="en-US" sz="1700" dirty="0">
                <a:solidFill>
                  <a:srgbClr val="FFFFFF"/>
                </a:solidFill>
              </a:rPr>
              <a:t xml:space="preserve">each standard is rated on SEI CERT's severity, likelihood, and remediation cost. High severity and likely issues come first. When two are tied, the one that's cheaper to fix ranks higher, so the team can close the biggest risks fastest.</a:t>
            </a:r>
            <a:endParaRPr lang="en-US" sz="1700" dirty="0"/>
          </a:p>
        </p:txBody>
      </p:sp>
      <p:pic>
        <p:nvPicPr>
          <p:cNvPr id="176" name="Google Shape;176;p6"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7"/>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ENCRYPTION POLICIES</a:t>
            </a:r>
            <a:endParaRPr/>
          </a:p>
        </p:txBody>
      </p:sp>
      <p:sp>
        <p:nvSpPr>
          <p:cNvPr id="182" name="Google Shape;182;p7"/>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Autofit/>
          </a:bodyPr>
          <a:lstStyle/>
          <a:p>
            <a:pPr marL="285750" indent="-285750" algn="l">
              <a:spcBef>
                <a:spcPts val="1800"/>
              </a:spcBef>
              <a:buClr>
                <a:schemeClr val="lt1"/>
              </a:buClr>
              <a:buSzPct val="100000"/>
              <a:buFont typeface="Arial"/>
              <a:buChar char="•"/>
            </a:pPr>
            <a:r>
              <a:rPr lang="en-US" sz="2200" b="1" dirty="0">
                <a:solidFill>
                  <a:srgbClr val="FFFFFF"/>
                </a:solidFill>
              </a:rPr>
              <a:t xml:space="preserve">At rest: </a:t>
            </a:r>
            <a:r>
              <a:rPr lang="en-US" sz="2200" dirty="0">
                <a:solidFill>
                  <a:srgbClr val="FFFFFF"/>
                </a:solidFill>
              </a:rPr>
              <a:t xml:space="preserve">Stored data is encrypted with a standard algorithm like AES, using proven libraries. No homemade encryption.</a:t>
            </a:r>
            <a:endParaRPr lang="en-US" sz="2200" dirty="0"/>
          </a:p>
          <a:p>
            <a:pPr marL="285750" indent="-285750" algn="l">
              <a:spcBef>
                <a:spcPts val="1800"/>
              </a:spcBef>
              <a:buClr>
                <a:schemeClr val="lt1"/>
              </a:buClr>
              <a:buSzPct val="100000"/>
              <a:buFont typeface="Arial"/>
              <a:buChar char="•"/>
            </a:pPr>
            <a:r>
              <a:rPr lang="en-US" sz="2200" b="1" dirty="0">
                <a:solidFill>
                  <a:srgbClr val="FFFFFF"/>
                </a:solidFill>
              </a:rPr>
              <a:t xml:space="preserve">In flight: </a:t>
            </a:r>
            <a:r>
              <a:rPr lang="en-US" sz="2200" dirty="0">
                <a:solidFill>
                  <a:srgbClr val="FFFFFF"/>
                </a:solidFill>
              </a:rPr>
              <a:t xml:space="preserve">All network traffic uses TLS, like HTTPS. Unencrypted options like HTTP and FTP are turned off.</a:t>
            </a:r>
            <a:endParaRPr lang="en-US" sz="2200" dirty="0"/>
          </a:p>
          <a:p>
            <a:pPr marL="285750" indent="-285750" algn="l">
              <a:spcBef>
                <a:spcPts val="1800"/>
              </a:spcBef>
              <a:buClr>
                <a:schemeClr val="lt1"/>
              </a:buClr>
              <a:buSzPct val="100000"/>
              <a:buFont typeface="Arial"/>
              <a:buChar char="•"/>
            </a:pPr>
            <a:r>
              <a:rPr lang="en-US" sz="2200" b="1" dirty="0">
                <a:solidFill>
                  <a:srgbClr val="FFFFFF"/>
                </a:solidFill>
              </a:rPr>
              <a:t xml:space="preserve">In use: </a:t>
            </a:r>
            <a:r>
              <a:rPr lang="en-US" sz="2200" dirty="0">
                <a:solidFill>
                  <a:srgbClr val="FFFFFF"/>
                </a:solidFill>
              </a:rPr>
              <a:t xml:space="preserve">Sensitive data like passwords stays in memory only as long as needed, is cleared when done, and is never written to logs or error messages.</a:t>
            </a:r>
            <a:endParaRPr lang="en-US" sz="2200" dirty="0"/>
          </a:p>
        </p:txBody>
      </p:sp>
      <p:pic>
        <p:nvPicPr>
          <p:cNvPr id="183" name="Google Shape;183;p7"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8"/>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TRIPLE-A POLICIES</a:t>
            </a:r>
            <a:endParaRPr/>
          </a:p>
        </p:txBody>
      </p:sp>
      <p:sp>
        <p:nvSpPr>
          <p:cNvPr id="189" name="Google Shape;189;p8"/>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Autofit/>
          </a:bodyPr>
          <a:lstStyle/>
          <a:p>
            <a:pPr marL="285750" indent="-285750" algn="l">
              <a:spcBef>
                <a:spcPts val="1800"/>
              </a:spcBef>
              <a:buClr>
                <a:schemeClr val="lt1"/>
              </a:buClr>
              <a:buSzPct val="100000"/>
              <a:buFont typeface="Arial"/>
              <a:buChar char="•"/>
            </a:pPr>
            <a:r>
              <a:rPr lang="en-US" sz="2200" b="1" dirty="0">
                <a:solidFill>
                  <a:srgbClr val="FFFFFF"/>
                </a:solidFill>
              </a:rPr>
              <a:t xml:space="preserve">Authentication: </a:t>
            </a:r>
            <a:r>
              <a:rPr lang="en-US" sz="2200" dirty="0">
                <a:solidFill>
                  <a:srgbClr val="FFFFFF"/>
                </a:solidFill>
              </a:rPr>
              <a:t xml:space="preserve">Username and password plus multifactor authentication. Accounts lock after too many failed logins. New users need an approved request.</a:t>
            </a:r>
            <a:endParaRPr lang="en-US" sz="2200" dirty="0"/>
          </a:p>
          <a:p>
            <a:pPr marL="285750" indent="-285750" algn="l">
              <a:spcBef>
                <a:spcPts val="1800"/>
              </a:spcBef>
              <a:buClr>
                <a:schemeClr val="lt1"/>
              </a:buClr>
              <a:buSzPct val="100000"/>
              <a:buFont typeface="Arial"/>
              <a:buChar char="•"/>
            </a:pPr>
            <a:r>
              <a:rPr lang="en-US" sz="2200" b="1" dirty="0">
                <a:solidFill>
                  <a:srgbClr val="FFFFFF"/>
                </a:solidFill>
              </a:rPr>
              <a:t xml:space="preserve">Authorization: </a:t>
            </a:r>
            <a:r>
              <a:rPr lang="en-US" sz="2200" dirty="0">
                <a:solidFill>
                  <a:srgbClr val="FFFFFF"/>
                </a:solidFill>
              </a:rPr>
              <a:t xml:space="preserve">Least privilege. Access is based on role, changes need manager approval, and only approved roles can change the database.</a:t>
            </a:r>
            <a:endParaRPr lang="en-US" sz="2200" dirty="0"/>
          </a:p>
          <a:p>
            <a:pPr marL="285750" indent="-285750" algn="l">
              <a:spcBef>
                <a:spcPts val="1800"/>
              </a:spcBef>
              <a:buClr>
                <a:schemeClr val="lt1"/>
              </a:buClr>
              <a:buSzPct val="100000"/>
              <a:buFont typeface="Arial"/>
              <a:buChar char="•"/>
            </a:pPr>
            <a:r>
              <a:rPr lang="en-US" sz="2200" b="1" dirty="0">
                <a:solidFill>
                  <a:srgbClr val="FFFFFF"/>
                </a:solidFill>
              </a:rPr>
              <a:t xml:space="preserve">Accounting: </a:t>
            </a:r>
            <a:r>
              <a:rPr lang="en-US" sz="2200" dirty="0">
                <a:solidFill>
                  <a:srgbClr val="FFFFFF"/>
                </a:solidFill>
              </a:rPr>
              <a:t xml:space="preserve">Logs record logins, database changes, new users, access level changes, and files accessed. Logs are protected and reviewed regularly.</a:t>
            </a:r>
            <a:endParaRPr lang="en-US" sz="2200" dirty="0"/>
          </a:p>
        </p:txBody>
      </p:sp>
      <p:pic>
        <p:nvPicPr>
          <p:cNvPr id="190" name="Google Shape;190;p8"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g9504e29505_0_0"/>
          <p:cNvSpPr txBox="1">
            <a:spLocks noGrp="1"/>
          </p:cNvSpPr>
          <p:nvPr>
            <p:ph type="title"/>
          </p:nvPr>
        </p:nvSpPr>
        <p:spPr>
          <a:xfrm>
            <a:off x="2895600" y="764373"/>
            <a:ext cx="8610600" cy="12930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SzPts val="1800"/>
              <a:buNone/>
            </a:pPr>
            <a:r>
              <a:rPr lang="en-US"/>
              <a:t>Unit Testing</a:t>
            </a:r>
            <a:endParaRPr/>
          </a:p>
        </p:txBody>
      </p:sp>
      <p:sp>
        <p:nvSpPr>
          <p:cNvPr id="196" name="Google Shape;196;g9504e29505_0_0"/>
          <p:cNvSpPr txBox="1">
            <a:spLocks noGrp="1"/>
          </p:cNvSpPr>
          <p:nvPr>
            <p:ph type="body" idx="1"/>
          </p:nvPr>
        </p:nvSpPr>
        <p:spPr>
          <a:xfrm>
            <a:off x="685800" y="2194560"/>
            <a:ext cx="10820400" cy="4024200"/>
          </a:xfrm>
          <a:prstGeom prst="rect">
            <a:avLst/>
          </a:prstGeom>
          <a:noFill/>
          <a:ln>
            <a:noFill/>
          </a:ln>
        </p:spPr>
        <p:txBody>
          <a:bodyPr spcFirstLastPara="1" wrap="square" lIns="91425" tIns="45700" rIns="91425" bIns="45700" anchor="t" anchorCtr="0">
            <a:noAutofit/>
          </a:bodyPr>
          <a:lstStyle/>
          <a:p>
            <a:pPr marL="285750" indent="-285750" algn="l">
              <a:spcBef>
                <a:spcPts val="1000"/>
              </a:spcBef>
              <a:buClr>
                <a:schemeClr val="lt1"/>
              </a:buClr>
              <a:buSzPct val="100000"/>
              <a:buFont typeface="Arial"/>
              <a:buChar char="•"/>
            </a:pPr>
            <a:r>
              <a:rPr lang="en-US" sz="2000" b="1" dirty="0">
                <a:solidFill>
                  <a:srgbClr val="FFFFFF"/>
                </a:solidFill>
              </a:rPr>
              <a:t xml:space="preserve">Vulnerability tested: </a:t>
            </a:r>
            <a:r>
              <a:rPr lang="en-US" sz="2000" dirty="0">
                <a:solidFill>
                  <a:srgbClr val="FFFFFF"/>
                </a:solidFill>
              </a:rPr>
              <a:t xml:space="preserve">out-of-range access and sizing errors in a std::vector (STD-008-CPP, SEI CERT CTR50-CPP).</a:t>
            </a:r>
            <a:endParaRPr lang="en-US" sz="2000" dirty="0"/>
          </a:p>
          <a:p>
            <a:pPr marL="285750" indent="-285750" algn="l">
              <a:spcBef>
                <a:spcPts val="1000"/>
              </a:spcBef>
              <a:buClr>
                <a:schemeClr val="lt1"/>
              </a:buClr>
              <a:buSzPct val="100000"/>
              <a:buFont typeface="Arial"/>
              <a:buChar char="•"/>
            </a:pPr>
            <a:r>
              <a:rPr lang="en-US" sz="2000" b="1" dirty="0">
                <a:solidFill>
                  <a:srgbClr val="FFFFFF"/>
                </a:solidFill>
              </a:rPr>
              <a:t xml:space="preserve">Framework: </a:t>
            </a:r>
            <a:r>
              <a:rPr lang="en-US" sz="2000" dirty="0">
                <a:solidFill>
                  <a:srgbClr val="FFFFFF"/>
                </a:solidFill>
              </a:rPr>
              <a:t xml:space="preserve">Google Test in Visual Studio. Tests run from Test Explorer.</a:t>
            </a:r>
            <a:endParaRPr lang="en-US" sz="2000" dirty="0"/>
          </a:p>
          <a:p>
            <a:pPr marL="285750" indent="-285750" algn="l">
              <a:spcBef>
                <a:spcPts val="1000"/>
              </a:spcBef>
              <a:buClr>
                <a:schemeClr val="lt1"/>
              </a:buClr>
              <a:buSzPct val="100000"/>
              <a:buFont typeface="Arial"/>
              <a:buChar char="•"/>
            </a:pPr>
            <a:r>
              <a:rPr lang="en-US" sz="2000" b="1" dirty="0">
                <a:solidFill>
                  <a:srgbClr val="FFFFFF"/>
                </a:solidFill>
              </a:rPr>
              <a:t xml:space="preserve">How each test works: </a:t>
            </a:r>
            <a:r>
              <a:rPr lang="en-US" sz="2000" dirty="0">
                <a:solidFill>
                  <a:srgbClr val="FFFFFF"/>
                </a:solidFill>
              </a:rPr>
              <a:t xml:space="preserve">a test fixture creates a new, empty collection. The test does one thing to it and checks the result. ASSERT is used for setup, EXPECT for results.</a:t>
            </a:r>
            <a:endParaRPr lang="en-US" sz="2000" dirty="0"/>
          </a:p>
          <a:p>
            <a:pPr marL="285750" indent="-285750" algn="l">
              <a:spcBef>
                <a:spcPts val="1000"/>
              </a:spcBef>
              <a:buClr>
                <a:schemeClr val="lt1"/>
              </a:buClr>
              <a:buSzPct val="100000"/>
              <a:buFont typeface="Arial"/>
              <a:buChar char="•"/>
            </a:pPr>
            <a:r>
              <a:rPr lang="en-US" sz="2000" b="1" dirty="0">
                <a:solidFill>
                  <a:srgbClr val="FFFFFF"/>
                </a:solidFill>
              </a:rPr>
              <a:t xml:space="preserve">Six tests shown: </a:t>
            </a:r>
            <a:r>
              <a:rPr lang="en-US" sz="2000" dirty="0">
                <a:solidFill>
                  <a:srgbClr val="FFFFFF"/>
                </a:solidFill>
              </a:rPr>
              <a:t xml:space="preserve">four positive tests (normal use works) and two negative tests (bad input is rejected).</a:t>
            </a:r>
            <a:endParaRPr lang="en-US" sz="2000" dirty="0"/>
          </a:p>
          <a:p>
            <a:pPr marL="285750" indent="-285750" algn="l">
              <a:spcBef>
                <a:spcPts val="1000"/>
              </a:spcBef>
              <a:buClr>
                <a:schemeClr val="lt1"/>
              </a:buClr>
              <a:buSzPct val="100000"/>
              <a:buFont typeface="Arial"/>
              <a:buChar char="•"/>
            </a:pPr>
            <a:r>
              <a:rPr lang="en-US" sz="2000" b="1" dirty="0">
                <a:solidFill>
                  <a:srgbClr val="FFFFFF"/>
                </a:solidFill>
              </a:rPr>
              <a:t xml:space="preserve">Result: </a:t>
            </a:r>
            <a:r>
              <a:rPr lang="en-US" sz="2000" dirty="0">
                <a:solidFill>
                  <a:srgbClr val="FFFFFF"/>
                </a:solidFill>
              </a:rPr>
              <a:t xml:space="preserve">all 15 tests in the project pass.</a:t>
            </a:r>
            <a:endParaRPr lang="en-US" sz="2000" dirty="0"/>
          </a:p>
        </p:txBody>
      </p:sp>
      <p:pic>
        <p:nvPicPr>
          <p:cNvPr id="197" name="Google Shape;197;g9504e29505_0_0"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9"/>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AUTOMATION SUMMARY</a:t>
            </a:r>
            <a:endParaRPr/>
          </a:p>
        </p:txBody>
      </p:sp>
      <p:pic>
        <p:nvPicPr>
          <p:cNvPr id="203" name="Google Shape;203;p9" descr="DevSec Ops Toolchain Diagram&#10;Graphical representation of the automation process used in the enforcement and compliance of the Security Policy Standards.&#10;The illustration shows a figure eight or infinity symbol to illustrate that the cycle of development is continuous. It starts with assessing and planning, to designing and building with DevSecOps in the center of the continuous loop to maintain system integrity and then make additional changes to make it more secure."/>
          <p:cNvPicPr preferRelativeResize="0">
            <a:picLocks noGrp="1"/>
          </p:cNvPicPr>
          <p:nvPr>
            <p:ph type="body" idx="1"/>
          </p:nvPr>
        </p:nvPicPr>
        <p:blipFill rotWithShape="1">
          <a:blip r:embed="rId4">
            <a:alphaModFix/>
          </a:blip>
          <a:srcRect/>
          <a:stretch/>
        </p:blipFill>
        <p:spPr>
          <a:xfrm>
            <a:off x="2127250" y="2199481"/>
            <a:ext cx="7937500" cy="4013200"/>
          </a:xfrm>
          <a:prstGeom prst="rect">
            <a:avLst/>
          </a:prstGeom>
          <a:noFill/>
          <a:ln>
            <a:noFill/>
          </a:ln>
        </p:spPr>
      </p:pic>
      <p:pic>
        <p:nvPicPr>
          <p:cNvPr id="204" name="Google Shape;204;p9" descr="Green Pace logo"/>
          <p:cNvPicPr preferRelativeResize="0"/>
          <p:nvPr/>
        </p:nvPicPr>
        <p:blipFill>
          <a:blip r:embed="rId5">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10"/>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TOOLS</a:t>
            </a:r>
            <a:endParaRPr/>
          </a:p>
        </p:txBody>
      </p:sp>
      <p:sp>
        <p:nvSpPr>
          <p:cNvPr id="210" name="Google Shape;210;p10"/>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Autofit/>
          </a:bodyPr>
          <a:lstStyle/>
          <a:p>
            <a:pPr marL="285750" indent="-285750" algn="l">
              <a:spcBef>
                <a:spcPts val="1000"/>
              </a:spcBef>
              <a:buClr>
                <a:schemeClr val="lt1"/>
              </a:buClr>
              <a:buSzPct val="100000"/>
              <a:buFont typeface="Arial"/>
              <a:buChar char="•"/>
            </a:pPr>
            <a:r>
              <a:rPr lang="en-US" sz="1900" b="1" dirty="0">
                <a:solidFill>
                  <a:srgbClr val="FFFFFF"/>
                </a:solidFill>
              </a:rPr>
              <a:t xml:space="preserve">Build: </a:t>
            </a:r>
            <a:r>
              <a:rPr lang="en-US" sz="1900" dirty="0">
                <a:solidFill>
                  <a:srgbClr val="FFFFFF"/>
                </a:solidFill>
              </a:rPr>
              <a:t xml:space="preserve">the compiler runs with warnings on, and Visual Studio's code analysis flags problems like buffer overruns (C6386) as code is written.</a:t>
            </a:r>
            <a:endParaRPr lang="en-US" sz="1900" dirty="0"/>
          </a:p>
          <a:p>
            <a:pPr marL="285750" indent="-285750" algn="l">
              <a:spcBef>
                <a:spcPts val="1000"/>
              </a:spcBef>
              <a:buClr>
                <a:schemeClr val="lt1"/>
              </a:buClr>
              <a:buSzPct val="100000"/>
              <a:buFont typeface="Arial"/>
              <a:buChar char="•"/>
            </a:pPr>
            <a:r>
              <a:rPr lang="en-US" sz="1900" b="1" dirty="0">
                <a:solidFill>
                  <a:srgbClr val="FFFFFF"/>
                </a:solidFill>
              </a:rPr>
              <a:t xml:space="preserve">Verify and test: </a:t>
            </a:r>
            <a:r>
              <a:rPr lang="en-US" sz="1900" dirty="0">
                <a:solidFill>
                  <a:srgbClr val="FFFFFF"/>
                </a:solidFill>
              </a:rPr>
              <a:t xml:space="preserve">every commit runs Cppcheck, Visual Studio code analysis, SonarQube, and the Google Test unit tests. Level 4 or 5 findings fail the build.</a:t>
            </a:r>
            <a:endParaRPr lang="en-US" sz="1900" dirty="0"/>
          </a:p>
          <a:p>
            <a:pPr marL="285750" indent="-285750" algn="l">
              <a:spcBef>
                <a:spcPts val="1000"/>
              </a:spcBef>
              <a:buClr>
                <a:schemeClr val="lt1"/>
              </a:buClr>
              <a:buSzPct val="100000"/>
              <a:buFont typeface="Arial"/>
              <a:buChar char="•"/>
            </a:pPr>
            <a:r>
              <a:rPr lang="en-US" sz="1900" b="1" dirty="0">
                <a:solidFill>
                  <a:srgbClr val="FFFFFF"/>
                </a:solidFill>
              </a:rPr>
              <a:t xml:space="preserve">Transition and health check: </a:t>
            </a:r>
            <a:r>
              <a:rPr lang="en-US" sz="1900" dirty="0">
                <a:solidFill>
                  <a:srgbClr val="FFFFFF"/>
                </a:solidFill>
              </a:rPr>
              <a:t xml:space="preserve">penetration testing and dynamic testing before release.</a:t>
            </a:r>
            <a:endParaRPr lang="en-US" sz="1900" dirty="0"/>
          </a:p>
          <a:p>
            <a:pPr marL="285750" indent="-285750" algn="l">
              <a:spcBef>
                <a:spcPts val="1000"/>
              </a:spcBef>
              <a:buClr>
                <a:schemeClr val="lt1"/>
              </a:buClr>
              <a:buSzPct val="100000"/>
              <a:buFont typeface="Arial"/>
              <a:buChar char="•"/>
            </a:pPr>
            <a:r>
              <a:rPr lang="en-US" sz="1900" b="1" dirty="0">
                <a:solidFill>
                  <a:srgbClr val="FFFFFF"/>
                </a:solidFill>
              </a:rPr>
              <a:t xml:space="preserve">Monitor and detect: </a:t>
            </a:r>
            <a:r>
              <a:rPr lang="en-US" sz="1900" dirty="0">
                <a:solidFill>
                  <a:srgbClr val="FFFFFF"/>
                </a:solidFill>
              </a:rPr>
              <a:t xml:space="preserve">application logs go to the SIEM along with operating system, firewall, and anti-malware logs.</a:t>
            </a:r>
            <a:endParaRPr lang="en-US" sz="1900" dirty="0"/>
          </a:p>
          <a:p>
            <a:pPr marL="285750" indent="-285750" algn="l">
              <a:spcBef>
                <a:spcPts val="1000"/>
              </a:spcBef>
              <a:buClr>
                <a:schemeClr val="lt1"/>
              </a:buClr>
              <a:buSzPct val="100000"/>
              <a:buFont typeface="Arial"/>
              <a:buChar char="•"/>
            </a:pPr>
            <a:r>
              <a:rPr lang="en-US" sz="1900" b="1" dirty="0">
                <a:solidFill>
                  <a:srgbClr val="FFFFFF"/>
                </a:solidFill>
              </a:rPr>
              <a:t xml:space="preserve">Access control: </a:t>
            </a:r>
            <a:r>
              <a:rPr lang="en-US" sz="1900" dirty="0">
                <a:solidFill>
                  <a:srgbClr val="FFFFFF"/>
                </a:solidFill>
              </a:rPr>
              <a:t xml:space="preserve">Active Directory and LDAP control who can change the pipeline.</a:t>
            </a:r>
            <a:endParaRPr lang="en-US" sz="1900" dirty="0"/>
          </a:p>
        </p:txBody>
      </p:sp>
      <p:pic>
        <p:nvPicPr>
          <p:cNvPr id="211" name="Google Shape;211;p10"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1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RISKS AND BENEFITS</a:t>
            </a:r>
            <a:endParaRPr/>
          </a:p>
        </p:txBody>
      </p:sp>
      <p:sp>
        <p:nvSpPr>
          <p:cNvPr id="217" name="Google Shape;217;p11"/>
          <p:cNvSpPr txBox="1">
            <a:spLocks noGrp="1"/>
          </p:cNvSpPr>
          <p:nvPr>
            <p:ph type="body" idx="1"/>
          </p:nvPr>
        </p:nvSpPr>
        <p:spPr>
          <a:xfrm>
            <a:off x="685800" y="1828800"/>
            <a:ext cx="10058400" cy="4206240"/>
          </a:xfrm>
          <a:prstGeom prst="rect">
            <a:avLst/>
          </a:prstGeom>
          <a:noFill/>
          <a:ln>
            <a:noFill/>
          </a:ln>
        </p:spPr>
        <p:txBody>
          <a:bodyPr spcFirstLastPara="1" wrap="square" lIns="91425" tIns="45700" rIns="91425" bIns="45700" anchor="t" anchorCtr="0">
            <a:noAutofit/>
          </a:bodyPr>
          <a:lstStyle/>
          <a:p>
            <a:pPr marL="285750" indent="-285750" algn="l">
              <a:spcBef>
                <a:spcPts val="700"/>
              </a:spcBef>
              <a:buClr>
                <a:schemeClr val="lt1"/>
              </a:buClr>
              <a:buSzPct val="100000"/>
              <a:buFont typeface="Arial"/>
              <a:buChar char="•"/>
            </a:pPr>
            <a:r>
              <a:rPr lang="en-US" sz="1700" b="1" dirty="0">
                <a:solidFill>
                  <a:srgbClr val="FFFFFF"/>
                </a:solidFill>
              </a:rPr>
              <a:t xml:space="preserve">Problem: </a:t>
            </a:r>
            <a:r>
              <a:rPr lang="en-US" sz="1700" dirty="0">
                <a:solidFill>
                  <a:srgbClr val="FFFFFF"/>
                </a:solidFill>
              </a:rPr>
              <a:t xml:space="preserve">good practices aren't applied the same way by everyone, and security tools aren't part of every build yet.</a:t>
            </a:r>
            <a:endParaRPr lang="en-US" sz="1700" dirty="0"/>
          </a:p>
          <a:p>
            <a:pPr marL="285750" indent="-285750" algn="l">
              <a:spcBef>
                <a:spcPts val="700"/>
              </a:spcBef>
              <a:buClr>
                <a:schemeClr val="lt1"/>
              </a:buClr>
              <a:buSzPct val="100000"/>
              <a:buFont typeface="Arial"/>
              <a:buChar char="•"/>
            </a:pPr>
            <a:r>
              <a:rPr lang="en-US" sz="1700" b="1" dirty="0">
                <a:solidFill>
                  <a:srgbClr val="FFFFFF"/>
                </a:solidFill>
              </a:rPr>
              <a:t xml:space="preserve">Solution: </a:t>
            </a:r>
            <a:r>
              <a:rPr lang="en-US" sz="1700" dirty="0">
                <a:solidFill>
                  <a:srgbClr val="FFFFFF"/>
                </a:solidFill>
              </a:rPr>
              <a:t xml:space="preserve">adopt the policy and add static analysis and unit tests to every build, starting with the Level 5 standards.</a:t>
            </a:r>
            <a:endParaRPr lang="en-US" sz="1700" dirty="0"/>
          </a:p>
          <a:p>
            <a:pPr marL="285750" indent="-285750" algn="l">
              <a:spcBef>
                <a:spcPts val="700"/>
              </a:spcBef>
              <a:buClr>
                <a:schemeClr val="lt1"/>
              </a:buClr>
              <a:buSzPct val="100000"/>
              <a:buFont typeface="Arial"/>
              <a:buChar char="•"/>
            </a:pPr>
            <a:r>
              <a:rPr lang="en-US" sz="1700" b="1" dirty="0">
                <a:solidFill>
                  <a:srgbClr val="FFFFFF"/>
                </a:solidFill>
              </a:rPr>
              <a:t xml:space="preserve">Act now, benefits: </a:t>
            </a:r>
            <a:r>
              <a:rPr lang="en-US" sz="1700" dirty="0">
                <a:solidFill>
                  <a:srgbClr val="FFFFFF"/>
                </a:solidFill>
              </a:rPr>
              <a:t xml:space="preserve">bugs are cheaper to fix early, fewer flaws reach customers, and the team codes the same way as it grows.</a:t>
            </a:r>
            <a:endParaRPr lang="en-US" sz="1700" dirty="0"/>
          </a:p>
          <a:p>
            <a:pPr marL="285750" indent="-285750" algn="l">
              <a:spcBef>
                <a:spcPts val="700"/>
              </a:spcBef>
              <a:buClr>
                <a:schemeClr val="lt1"/>
              </a:buClr>
              <a:buSzPct val="100000"/>
              <a:buFont typeface="Arial"/>
              <a:buChar char="•"/>
            </a:pPr>
            <a:r>
              <a:rPr lang="en-US" sz="1700" b="1" dirty="0">
                <a:solidFill>
                  <a:srgbClr val="FFFFFF"/>
                </a:solidFill>
              </a:rPr>
              <a:t xml:space="preserve">Act now, risks: </a:t>
            </a:r>
            <a:r>
              <a:rPr lang="en-US" sz="1700" dirty="0">
                <a:solidFill>
                  <a:srgbClr val="FFFFFF"/>
                </a:solidFill>
              </a:rPr>
              <a:t xml:space="preserve">slower builds at first, false alarms from tools, and time spent on training and fixing older code.</a:t>
            </a:r>
            <a:endParaRPr lang="en-US" sz="1700" dirty="0"/>
          </a:p>
          <a:p>
            <a:pPr marL="285750" indent="-285750" algn="l">
              <a:spcBef>
                <a:spcPts val="700"/>
              </a:spcBef>
              <a:buClr>
                <a:schemeClr val="lt1"/>
              </a:buClr>
              <a:buSzPct val="100000"/>
              <a:buFont typeface="Arial"/>
              <a:buChar char="•"/>
            </a:pPr>
            <a:r>
              <a:rPr lang="en-US" sz="1700" b="1" dirty="0">
                <a:solidFill>
                  <a:srgbClr val="FFFFFF"/>
                </a:solidFill>
              </a:rPr>
              <a:t xml:space="preserve">Wait, risks: </a:t>
            </a:r>
            <a:r>
              <a:rPr lang="en-US" sz="1700" dirty="0">
                <a:solidFill>
                  <a:srgbClr val="FFFFFF"/>
                </a:solidFill>
              </a:rPr>
              <a:t xml:space="preserve">flaws like SQL injection stay in the code until an attacker finds them. In 2023, one SQL injection flaw in MOVEit hit over 2,000 organizations.</a:t>
            </a:r>
            <a:endParaRPr lang="en-US" sz="1700" dirty="0"/>
          </a:p>
          <a:p>
            <a:pPr marL="285750" indent="-285750" algn="l">
              <a:spcBef>
                <a:spcPts val="700"/>
              </a:spcBef>
              <a:buClr>
                <a:schemeClr val="lt1"/>
              </a:buClr>
              <a:buSzPct val="100000"/>
              <a:buFont typeface="Arial"/>
              <a:buChar char="•"/>
            </a:pPr>
            <a:r>
              <a:rPr lang="en-US" sz="1700" b="1" dirty="0">
                <a:solidFill>
                  <a:srgbClr val="FFFFFF"/>
                </a:solidFill>
              </a:rPr>
              <a:t xml:space="preserve">Where it's lacking: </a:t>
            </a:r>
            <a:r>
              <a:rPr lang="en-US" sz="1700" dirty="0">
                <a:solidFill>
                  <a:srgbClr val="FFFFFF"/>
                </a:solidFill>
              </a:rPr>
              <a:t xml:space="preserve">no tool catches everything, so code review is still needed.</a:t>
            </a:r>
            <a:endParaRPr lang="en-US" sz="1700" dirty="0"/>
          </a:p>
        </p:txBody>
      </p:sp>
      <p:pic>
        <p:nvPicPr>
          <p:cNvPr id="218" name="Google Shape;218;p11"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12"/>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RECOMMENDATIONS</a:t>
            </a:r>
            <a:endParaRPr/>
          </a:p>
        </p:txBody>
      </p:sp>
      <p:sp>
        <p:nvSpPr>
          <p:cNvPr id="224" name="Google Shape;224;p12"/>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Autofit/>
          </a:bodyPr>
          <a:lstStyle/>
          <a:p>
            <a:pPr marL="285750" indent="-285750" algn="l">
              <a:spcBef>
                <a:spcPts val="1000"/>
              </a:spcBef>
              <a:buClr>
                <a:schemeClr val="lt1"/>
              </a:buClr>
              <a:buSzPct val="100000"/>
              <a:buFont typeface="Arial"/>
              <a:buChar char="•"/>
            </a:pPr>
            <a:r>
              <a:rPr lang="en-US" sz="2000" b="1" dirty="0">
                <a:solidFill>
                  <a:srgbClr val="FFFFFF"/>
                </a:solidFill>
              </a:rPr>
              <a:t xml:space="preserve">Tool coverage: </a:t>
            </a:r>
            <a:r>
              <a:rPr lang="en-US" sz="2000" dirty="0">
                <a:solidFill>
                  <a:srgbClr val="FFFFFF"/>
                </a:solidFill>
              </a:rPr>
              <a:t xml:space="preserve">STD-002, 004, and 009 rely on commercial tools Green Pace doesn't use yet.</a:t>
            </a:r>
            <a:endParaRPr lang="en-US" sz="2000" dirty="0"/>
          </a:p>
          <a:p>
            <a:pPr marL="285750" indent="-285750" algn="l">
              <a:spcBef>
                <a:spcPts val="1000"/>
              </a:spcBef>
              <a:buClr>
                <a:schemeClr val="lt1"/>
              </a:buClr>
              <a:buSzPct val="100000"/>
              <a:buFont typeface="Arial"/>
              <a:buChar char="•"/>
            </a:pPr>
            <a:r>
              <a:rPr lang="en-US" sz="2000" b="1" dirty="0">
                <a:solidFill>
                  <a:srgbClr val="FFFFFF"/>
                </a:solidFill>
              </a:rPr>
              <a:t xml:space="preserve">Tools miss things: </a:t>
            </a:r>
            <a:r>
              <a:rPr lang="en-US" sz="2000" dirty="0">
                <a:solidFill>
                  <a:srgbClr val="FFFFFF"/>
                </a:solidFill>
              </a:rPr>
              <a:t xml:space="preserve">in the static analysis activity, neither Cppcheck nor Visual Studio caught an endless recursion. Code review fills that gap.</a:t>
            </a:r>
            <a:endParaRPr lang="en-US" sz="2000" dirty="0"/>
          </a:p>
          <a:p>
            <a:pPr marL="285750" indent="-285750" algn="l">
              <a:spcBef>
                <a:spcPts val="1000"/>
              </a:spcBef>
              <a:buClr>
                <a:schemeClr val="lt1"/>
              </a:buClr>
              <a:buSzPct val="100000"/>
              <a:buFont typeface="Arial"/>
              <a:buChar char="•"/>
            </a:pPr>
            <a:r>
              <a:rPr lang="en-US" sz="2000" b="1" dirty="0">
                <a:solidFill>
                  <a:srgbClr val="FFFFFF"/>
                </a:solidFill>
              </a:rPr>
              <a:t xml:space="preserve">Testing: </a:t>
            </a:r>
            <a:r>
              <a:rPr lang="en-US" sz="2000" dirty="0">
                <a:solidFill>
                  <a:srgbClr val="FFFFFF"/>
                </a:solidFill>
              </a:rPr>
              <a:t xml:space="preserve">unit tests only cover some standards so far. Add tests for every standard, starting with Level 5.</a:t>
            </a:r>
            <a:endParaRPr lang="en-US" sz="2000" dirty="0"/>
          </a:p>
          <a:p>
            <a:pPr marL="285750" indent="-285750" algn="l">
              <a:spcBef>
                <a:spcPts val="1000"/>
              </a:spcBef>
              <a:buClr>
                <a:schemeClr val="lt1"/>
              </a:buClr>
              <a:buSzPct val="100000"/>
              <a:buFont typeface="Arial"/>
              <a:buChar char="•"/>
            </a:pPr>
            <a:r>
              <a:rPr lang="en-US" sz="2000" b="1" dirty="0">
                <a:solidFill>
                  <a:srgbClr val="FFFFFF"/>
                </a:solidFill>
              </a:rPr>
              <a:t xml:space="preserve">Third-party software: </a:t>
            </a:r>
            <a:r>
              <a:rPr lang="en-US" sz="2000" dirty="0">
                <a:solidFill>
                  <a:srgbClr val="FFFFFF"/>
                </a:solidFill>
              </a:rPr>
              <a:t xml:space="preserve">the policy doesn't cover vendor tools and libraries. MOVEit was a vendor product (CISA, 2023).</a:t>
            </a:r>
            <a:endParaRPr lang="en-US" sz="2000" dirty="0"/>
          </a:p>
          <a:p>
            <a:pPr marL="285750" indent="-285750" algn="l">
              <a:spcBef>
                <a:spcPts val="1000"/>
              </a:spcBef>
              <a:buClr>
                <a:schemeClr val="lt1"/>
              </a:buClr>
              <a:buSzPct val="100000"/>
              <a:buFont typeface="Arial"/>
              <a:buChar char="•"/>
            </a:pPr>
            <a:r>
              <a:rPr lang="en-US" sz="2000" b="1" dirty="0">
                <a:solidFill>
                  <a:srgbClr val="FFFFFF"/>
                </a:solidFill>
              </a:rPr>
              <a:t xml:space="preserve">Training: </a:t>
            </a:r>
            <a:r>
              <a:rPr lang="en-US" sz="2000" dirty="0">
                <a:solidFill>
                  <a:srgbClr val="FFFFFF"/>
                </a:solidFill>
              </a:rPr>
              <a:t xml:space="preserve">new developers need training on the policy so it's followed the same way.</a:t>
            </a:r>
            <a:endParaRPr lang="en-US" sz="2000" dirty="0"/>
          </a:p>
        </p:txBody>
      </p:sp>
      <p:pic>
        <p:nvPicPr>
          <p:cNvPr id="225" name="Google Shape;225;p12"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13"/>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CONCLUSIONS</a:t>
            </a:r>
            <a:endParaRPr/>
          </a:p>
        </p:txBody>
      </p:sp>
      <p:sp>
        <p:nvSpPr>
          <p:cNvPr id="231" name="Google Shape;231;p13"/>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Autofit/>
          </a:bodyPr>
          <a:lstStyle/>
          <a:p>
            <a:pPr marL="285750" indent="-285750" algn="l">
              <a:spcBef>
                <a:spcPts val="1200"/>
              </a:spcBef>
              <a:buClr>
                <a:schemeClr val="lt1"/>
              </a:buClr>
              <a:buSzPct val="100000"/>
              <a:buFont typeface="Arial"/>
              <a:buChar char="•"/>
            </a:pPr>
            <a:r>
              <a:rPr lang="en-US" sz="2200" dirty="0">
                <a:solidFill>
                  <a:srgbClr val="FFFFFF"/>
                </a:solidFill>
              </a:rPr>
              <a:t xml:space="preserve">Add SEI CERT rules for file input and output, since our apps handle sensitive files.</a:t>
            </a:r>
            <a:endParaRPr lang="en-US" sz="2200" dirty="0"/>
          </a:p>
          <a:p>
            <a:pPr marL="285750" indent="-285750" algn="l">
              <a:spcBef>
                <a:spcPts val="1200"/>
              </a:spcBef>
              <a:buClr>
                <a:schemeClr val="lt1"/>
              </a:buClr>
              <a:buSzPct val="100000"/>
              <a:buFont typeface="Arial"/>
              <a:buChar char="•"/>
            </a:pPr>
            <a:r>
              <a:rPr lang="en-US" sz="2200" dirty="0">
                <a:solidFill>
                  <a:srgbClr val="FFFFFF"/>
                </a:solidFill>
              </a:rPr>
              <a:t xml:space="preserve">Use the OWASP Top Ten as a standard for any web-facing parts of the system.</a:t>
            </a:r>
            <a:endParaRPr lang="en-US" sz="2200" dirty="0"/>
          </a:p>
          <a:p>
            <a:pPr marL="285750" indent="-285750" algn="l">
              <a:spcBef>
                <a:spcPts val="1200"/>
              </a:spcBef>
              <a:buClr>
                <a:schemeClr val="lt1"/>
              </a:buClr>
              <a:buSzPct val="100000"/>
              <a:buFont typeface="Arial"/>
              <a:buChar char="•"/>
            </a:pPr>
            <a:r>
              <a:rPr lang="en-US" sz="2200" dirty="0">
                <a:solidFill>
                  <a:srgbClr val="FFFFFF"/>
                </a:solidFill>
              </a:rPr>
              <a:t xml:space="preserve">User input should never be added straight into a database query without being checked first.</a:t>
            </a:r>
            <a:endParaRPr lang="en-US" sz="2200" dirty="0"/>
          </a:p>
          <a:p>
            <a:pPr marL="285750" indent="-285750" algn="l">
              <a:spcBef>
                <a:spcPts val="1200"/>
              </a:spcBef>
              <a:buClr>
                <a:schemeClr val="lt1"/>
              </a:buClr>
              <a:buSzPct val="100000"/>
              <a:buFont typeface="Arial"/>
              <a:buChar char="•"/>
            </a:pPr>
            <a:r>
              <a:rPr lang="en-US" sz="2200" dirty="0">
                <a:solidFill>
                  <a:srgbClr val="FFFFFF"/>
                </a:solidFill>
              </a:rPr>
              <a:t xml:space="preserve">Check third-party libraries for known vulnerabilities before they're used.</a:t>
            </a:r>
            <a:endParaRPr lang="en-US" sz="2200" dirty="0"/>
          </a:p>
          <a:p>
            <a:pPr marL="285750" indent="-285750" algn="l">
              <a:spcBef>
                <a:spcPts val="1200"/>
              </a:spcBef>
              <a:buClr>
                <a:schemeClr val="lt1"/>
              </a:buClr>
              <a:buSzPct val="100000"/>
              <a:buFont typeface="Arial"/>
              <a:buChar char="•"/>
            </a:pPr>
            <a:r>
              <a:rPr lang="en-US" sz="2200" dirty="0">
                <a:solidFill>
                  <a:srgbClr val="FFFFFF"/>
                </a:solidFill>
              </a:rPr>
              <a:t xml:space="preserve">Review and update the policy every cycle as new threats appear.</a:t>
            </a:r>
            <a:endParaRPr lang="en-US" sz="2200" dirty="0"/>
          </a:p>
        </p:txBody>
      </p:sp>
      <p:pic>
        <p:nvPicPr>
          <p:cNvPr id="232" name="Google Shape;232;p13"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14"/>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REFERENCES</a:t>
            </a:r>
            <a:endParaRPr/>
          </a:p>
        </p:txBody>
      </p:sp>
      <p:sp>
        <p:nvSpPr>
          <p:cNvPr id="238" name="Google Shape;238;p14"/>
          <p:cNvSpPr txBox="1">
            <a:spLocks noGrp="1"/>
          </p:cNvSpPr>
          <p:nvPr>
            <p:ph type="body" idx="1"/>
          </p:nvPr>
        </p:nvSpPr>
        <p:spPr>
          <a:xfrm>
            <a:off x="685800" y="1828800"/>
            <a:ext cx="9966960" cy="4480560"/>
          </a:xfrm>
          <a:prstGeom prst="rect">
            <a:avLst/>
          </a:prstGeom>
          <a:noFill/>
          <a:ln>
            <a:noFill/>
          </a:ln>
        </p:spPr>
        <p:txBody>
          <a:bodyPr spcFirstLastPara="1" wrap="square" lIns="91425" tIns="45700" rIns="91425" bIns="45700" anchor="t" anchorCtr="0">
            <a:noAutofit/>
          </a:bodyPr>
          <a:lstStyle/>
          <a:p>
            <a:pPr marL="457200" indent="-457200" algn="l">
              <a:spcBef>
                <a:spcPts val="500"/>
              </a:spcBef>
              <a:buNone/>
            </a:pPr>
            <a:r>
              <a:rPr lang="en-US" sz="1300" dirty="0">
                <a:solidFill>
                  <a:srgbClr val="FFFFFF"/>
                </a:solidFill>
              </a:rPr>
              <a:t xml:space="preserve">Carnegie Mellon University Software Engineering Institute. (n.d.-a). CTR50-CPP. Guarantee that container indices and iterators are within the valid range. SEI CERT C++ Coding Standard. https://wiki.sei.cmu.edu/confluence/spaces/cplusplus/pages/88046704</a:t>
            </a:r>
          </a:p>
          <a:p>
            <a:pPr marL="457200" indent="-457200" algn="l">
              <a:spcBef>
                <a:spcPts val="500"/>
              </a:spcBef>
              <a:buNone/>
            </a:pPr>
            <a:r>
              <a:rPr lang="en-US" sz="1300" dirty="0">
                <a:solidFill>
                  <a:srgbClr val="FFFFFF"/>
                </a:solidFill>
              </a:rPr>
              <a:t xml:space="preserve">Carnegie Mellon University Software Engineering Institute. (n.d.-b). SEI CERT C++ coding standard. https://wiki.sei.cmu.edu/confluence/display/cplusplus</a:t>
            </a:r>
          </a:p>
          <a:p>
            <a:pPr marL="457200" indent="-457200" algn="l">
              <a:spcBef>
                <a:spcPts val="500"/>
              </a:spcBef>
              <a:buNone/>
            </a:pPr>
            <a:r>
              <a:rPr lang="en-US" sz="1300" dirty="0">
                <a:solidFill>
                  <a:srgbClr val="FFFFFF"/>
                </a:solidFill>
              </a:rPr>
              <a:t xml:space="preserve">Cybersecurity and Infrastructure Security Agency. (2023, June 7). CISA and FBI release advisory on CL0P ransomware gang exploiting MOVEit vulnerability. https://www.cisa.gov/news-events/news/cisa-and-fbi-release-advisory-cl0p-ransomware-gang-exploiting-moveit-vulnerability</a:t>
            </a:r>
          </a:p>
          <a:p>
            <a:pPr marL="457200" indent="-457200" algn="l">
              <a:spcBef>
                <a:spcPts val="500"/>
              </a:spcBef>
              <a:buNone/>
            </a:pPr>
            <a:r>
              <a:rPr lang="en-US" sz="1300" dirty="0">
                <a:solidFill>
                  <a:srgbClr val="FFFFFF"/>
                </a:solidFill>
              </a:rPr>
              <a:t xml:space="preserve">Google. (n.d.). GoogleTest user's guide. https://google.github.io/googletest/</a:t>
            </a:r>
          </a:p>
          <a:p>
            <a:pPr marL="457200" indent="-457200" algn="l">
              <a:spcBef>
                <a:spcPts val="500"/>
              </a:spcBef>
              <a:buNone/>
            </a:pPr>
            <a:r>
              <a:rPr lang="en-US" sz="1300" dirty="0">
                <a:solidFill>
                  <a:srgbClr val="FFFFFF"/>
                </a:solidFill>
              </a:rPr>
              <a:t xml:space="preserve">Microsoft. (n.d.). Use Google Test for C++ in Visual Studio. https://learn.microsoft.com/en-us/visualstudio/test/how-to-use-google-test-for-cpp</a:t>
            </a:r>
          </a:p>
          <a:p>
            <a:pPr marL="457200" indent="-457200" algn="l">
              <a:spcBef>
                <a:spcPts val="500"/>
              </a:spcBef>
              <a:buNone/>
            </a:pPr>
            <a:r>
              <a:rPr lang="en-US" sz="1300" dirty="0">
                <a:solidFill>
                  <a:srgbClr val="FFFFFF"/>
                </a:solidFill>
              </a:rPr>
              <a:t xml:space="preserve">OWASP Foundation. (n.d.). OWASP Top Ten. https://owasp.org/www-project-top-ten/</a:t>
            </a:r>
          </a:p>
          <a:p>
            <a:pPr marL="457200" indent="-457200" algn="l">
              <a:spcBef>
                <a:spcPts val="500"/>
              </a:spcBef>
              <a:buNone/>
            </a:pPr>
            <a:r>
              <a:rPr lang="en-US" sz="1300" dirty="0">
                <a:solidFill>
                  <a:srgbClr val="FFFFFF"/>
                </a:solidFill>
              </a:rPr>
              <a:t xml:space="preserve">TechTarget. (n.d.). Clop MoveIt Transfer attacks affect over 2,000 organizations. https://www.techtarget.com/searchsecurity/news/366553304/Clop-MoveIt-Transfer-attacks-affect-over-2000-organizations</a:t>
            </a:r>
          </a:p>
        </p:txBody>
      </p:sp>
      <p:pic>
        <p:nvPicPr>
          <p:cNvPr id="239" name="Google Shape;239;p14"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g9504e29505_0_0"/>
          <p:cNvSpPr txBox="1">
            <a:spLocks noGrp="1"/>
          </p:cNvSpPr>
          <p:nvPr>
            <p:ph type="title"/>
          </p:nvPr>
        </p:nvSpPr>
        <p:spPr>
          <a:xfrm>
            <a:off x="2895600" y="764373"/>
            <a:ext cx="8610600" cy="12930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SzPts val="1800"/>
              <a:buNone/>
            </a:pPr>
            <a:r>
              <a:rPr lang="en-US" sz="3000"/>
              <a:t>Can a value be added to an empty vector?</a:t>
            </a:r>
            <a:endParaRPr/>
          </a:p>
        </p:txBody>
      </p:sp>
      <p:sp>
        <p:nvSpPr>
          <p:cNvPr id="196" name="Google Shape;196;g9504e29505_0_0"/>
          <p:cNvSpPr txBox="1">
            <a:spLocks noGrp="1"/>
          </p:cNvSpPr>
          <p:nvPr>
            <p:ph type="body" idx="1"/>
          </p:nvPr>
        </p:nvSpPr>
        <p:spPr>
          <a:xfrm>
            <a:off x="640080" y="4800600"/>
            <a:ext cx="5943600" cy="1600200"/>
          </a:xfrm>
          <a:prstGeom prst="rect">
            <a:avLst/>
          </a:prstGeom>
          <a:noFill/>
          <a:ln>
            <a:noFill/>
          </a:ln>
        </p:spPr>
        <p:txBody>
          <a:bodyPr spcFirstLastPara="1" wrap="square" lIns="91425" tIns="45700" rIns="91425" bIns="45700" anchor="t" anchorCtr="0">
            <a:noAutofit/>
          </a:bodyPr>
          <a:lstStyle/>
          <a:p>
            <a:pPr marL="0" indent="0" algn="l">
              <a:spcBef>
                <a:spcPts val="0"/>
              </a:spcBef>
              <a:buNone/>
            </a:pPr>
            <a:r>
              <a:rPr lang="en-US" sz="1400" b="1" dirty="0">
                <a:solidFill>
                  <a:srgbClr val="FFFFFF"/>
                </a:solidFill>
              </a:rPr>
              <a:t xml:space="preserve">Test type: </a:t>
            </a:r>
            <a:r>
              <a:rPr lang="en-US" sz="1400" dirty="0">
                <a:solidFill>
                  <a:srgbClr val="FFFFFF"/>
                </a:solidFill>
              </a:rPr>
              <a:t xml:space="preserve">Positive     </a:t>
            </a:r>
            <a:r>
              <a:rPr lang="en-US" sz="1400" b="1" dirty="0">
                <a:solidFill>
                  <a:srgbClr val="FFFFFF"/>
                </a:solidFill>
              </a:rPr>
              <a:t xml:space="preserve">Result: </a:t>
            </a:r>
            <a:r>
              <a:rPr lang="en-US" sz="1400" dirty="0">
                <a:solidFill>
                  <a:srgbClr val="FFFFFF"/>
                </a:solidFill>
              </a:rPr>
              <a:t xml:space="preserve">Passed</a:t>
            </a:r>
            <a:endParaRPr lang="en-US" sz="1400" dirty="0"/>
          </a:p>
          <a:p>
            <a:pPr marL="0" indent="0" algn="l">
              <a:spcBef>
                <a:spcPts val="300"/>
              </a:spcBef>
              <a:buNone/>
            </a:pPr>
            <a:r>
              <a:rPr lang="en-US" sz="1400" b="1" dirty="0">
                <a:solidFill>
                  <a:srgbClr val="FFFFFF"/>
                </a:solidFill>
              </a:rPr>
              <a:t xml:space="preserve">What it proves: </a:t>
            </a:r>
            <a:r>
              <a:rPr lang="en-US" sz="1400" dirty="0">
                <a:solidFill>
                  <a:srgbClr val="FFFFFF"/>
                </a:solidFill>
              </a:rPr>
              <a:t xml:space="preserve">Adding one value makes the vector non-empty with a size of 1.</a:t>
            </a:r>
            <a:endParaRPr lang="en-US" sz="1400" dirty="0"/>
          </a:p>
          <a:p>
            <a:pPr marL="0" indent="0" algn="l">
              <a:spcBef>
                <a:spcPts val="300"/>
              </a:spcBef>
              <a:buNone/>
            </a:pPr>
            <a:r>
              <a:rPr lang="en-US" sz="1400" b="1" dirty="0">
                <a:solidFill>
                  <a:srgbClr val="FFFFFF"/>
                </a:solidFill>
              </a:rPr>
              <a:t xml:space="preserve">Taking it further: </a:t>
            </a:r>
            <a:r>
              <a:rPr lang="en-US" sz="1400" dirty="0">
                <a:solidFill>
                  <a:srgbClr val="FFFFFF"/>
                </a:solidFill>
              </a:rPr>
              <a:t xml:space="preserve">Add many values and check the contents, not just the size.</a:t>
            </a:r>
            <a:endParaRPr lang="en-US" sz="1400" dirty="0"/>
          </a:p>
        </p:txBody>
      </p:sp>
      <p:sp>
        <p:nvSpPr>
          <p:cNvPr id="901" name="Test code 1"/>
          <p:cNvSpPr txBox="1"/>
          <p:nvPr/>
        </p:nvSpPr>
        <p:spPr>
          <a:xfrm>
            <a:off x="685800" y="1828800"/>
            <a:ext cx="5852160" cy="2926080"/>
          </a:xfrm>
          <a:prstGeom prst="rect">
            <a:avLst/>
          </a:prstGeom>
          <a:solidFill>
            <a:srgbClr val="1E1E1E"/>
          </a:solidFill>
          <a:ln>
            <a:noFill/>
          </a:ln>
        </p:spPr>
        <p:txBody>
          <a:bodyPr wrap="square" lIns="137160" tIns="91440" rIns="137160" bIns="91440" anchor="t">
            <a:noAutofit/>
          </a:bodyPr>
          <a:lstStyle/>
          <a:p>
            <a:pPr marL="0" indent="0" algn="l">
              <a:spcBef>
                <a:spcPts val="0"/>
              </a:spcBef>
              <a:buNone/>
            </a:pPr>
            <a:r>
              <a:rPr lang="en-US" sz="1150" dirty="0">
                <a:solidFill>
                  <a:srgbClr val="D4D4D4"/>
                </a:solidFill>
                <a:latin typeface="Courier New"/>
                <a:cs typeface="Courier New"/>
              </a:rPr>
              <a:t xml:space="preserve">TEST_F(CollectionTest, CanAddToEmptyVector)</a:t>
            </a:r>
            <a:endParaRPr lang="en-US" sz="1150" dirty="0"/>
          </a:p>
          <a:p>
            <a:pPr marL="0" indent="0" algn="l">
              <a:spcBef>
                <a:spcPts val="0"/>
              </a:spcBef>
              <a:buNone/>
            </a:pPr>
            <a:r>
              <a:rPr lang="en-US" sz="1150" dirty="0">
                <a:solidFill>
                  <a:srgbClr val="D4D4D4"/>
                </a:solidFill>
                <a:latin typeface="Courier New"/>
                <a:cs typeface="Courier New"/>
              </a:rPr>
              <a:t xml:space="preserve">{</a:t>
            </a:r>
            <a:endParaRPr lang="en-US" sz="1150" dirty="0"/>
          </a:p>
          <a:p>
            <a:pPr marL="0" indent="0" algn="l">
              <a:spcBef>
                <a:spcPts val="0"/>
              </a:spcBef>
              <a:buNone/>
            </a:pPr>
            <a:r>
              <a:rPr lang="en-US" sz="1150" dirty="0">
                <a:solidFill>
                  <a:srgbClr val="D4D4D4"/>
                </a:solidFill>
                <a:latin typeface="Courier New"/>
                <a:cs typeface="Courier New"/>
              </a:rPr>
              <a:t xml:space="preserve">  ASSERT_TRUE(collection-&gt;empty());</a:t>
            </a:r>
            <a:endParaRPr lang="en-US" sz="1150" dirty="0"/>
          </a:p>
          <a:p>
            <a:pPr marL="0" indent="0" algn="l">
              <a:spcBef>
                <a:spcPts val="0"/>
              </a:spcBef>
              <a:buNone/>
            </a:pPr>
            <a:r>
              <a:rPr lang="en-US" sz="1150" dirty="0">
                <a:solidFill>
                  <a:srgbClr val="D4D4D4"/>
                </a:solidFill>
                <a:latin typeface="Courier New"/>
                <a:cs typeface="Courier New"/>
              </a:rPr>
              <a:t xml:space="preserve">  ASSERT_EQ(collection-&gt;size(), 0);</a:t>
            </a:r>
            <a:endParaRPr lang="en-US" sz="1150" dirty="0"/>
          </a:p>
          <a:p>
            <a:pPr marL="0" indent="0" algn="l">
              <a:spcBef>
                <a:spcPts val="0"/>
              </a:spcBef>
              <a:buNone/>
            </a:pPr>
            <a:r>
              <a:rPr lang="en-US" sz="1150" dirty="0">
                <a:solidFill>
                  <a:srgbClr val="D4D4D4"/>
                </a:solidFill>
                <a:latin typeface="Courier New"/>
                <a:cs typeface="Courier New"/>
              </a:rPr>
              <a:t xml:space="preserve"> </a:t>
            </a:r>
            <a:endParaRPr lang="en-US" sz="1150" dirty="0"/>
          </a:p>
          <a:p>
            <a:pPr marL="0" indent="0" algn="l">
              <a:spcBef>
                <a:spcPts val="0"/>
              </a:spcBef>
              <a:buNone/>
            </a:pPr>
            <a:r>
              <a:rPr lang="en-US" sz="1150" dirty="0">
                <a:solidFill>
                  <a:srgbClr val="D4D4D4"/>
                </a:solidFill>
                <a:latin typeface="Courier New"/>
                <a:cs typeface="Courier New"/>
              </a:rPr>
              <a:t xml:space="preserve">  add_entries(1);</a:t>
            </a:r>
            <a:endParaRPr lang="en-US" sz="1150" dirty="0"/>
          </a:p>
          <a:p>
            <a:pPr marL="0" indent="0" algn="l">
              <a:spcBef>
                <a:spcPts val="0"/>
              </a:spcBef>
              <a:buNone/>
            </a:pPr>
            <a:r>
              <a:rPr lang="en-US" sz="1150" dirty="0">
                <a:solidFill>
                  <a:srgbClr val="D4D4D4"/>
                </a:solidFill>
                <a:latin typeface="Courier New"/>
                <a:cs typeface="Courier New"/>
              </a:rPr>
              <a:t xml:space="preserve"> </a:t>
            </a:r>
            <a:endParaRPr lang="en-US" sz="1150" dirty="0"/>
          </a:p>
          <a:p>
            <a:pPr marL="0" indent="0" algn="l">
              <a:spcBef>
                <a:spcPts val="0"/>
              </a:spcBef>
              <a:buNone/>
            </a:pPr>
            <a:r>
              <a:rPr lang="en-US" sz="1150" dirty="0">
                <a:solidFill>
                  <a:srgbClr val="D4D4D4"/>
                </a:solidFill>
                <a:latin typeface="Courier New"/>
                <a:cs typeface="Courier New"/>
              </a:rPr>
              <a:t xml:space="preserve">  EXPECT_FALSE(collection-&gt;empty());</a:t>
            </a:r>
            <a:endParaRPr lang="en-US" sz="1150" dirty="0"/>
          </a:p>
          <a:p>
            <a:pPr marL="0" indent="0" algn="l">
              <a:spcBef>
                <a:spcPts val="0"/>
              </a:spcBef>
              <a:buNone/>
            </a:pPr>
            <a:r>
              <a:rPr lang="en-US" sz="1150" dirty="0">
                <a:solidFill>
                  <a:srgbClr val="D4D4D4"/>
                </a:solidFill>
                <a:latin typeface="Courier New"/>
                <a:cs typeface="Courier New"/>
              </a:rPr>
              <a:t xml:space="preserve">  EXPECT_EQ(collection-&gt;size(), 1);</a:t>
            </a:r>
            <a:endParaRPr lang="en-US" sz="1150" dirty="0"/>
          </a:p>
          <a:p>
            <a:pPr marL="0" indent="0" algn="l">
              <a:spcBef>
                <a:spcPts val="0"/>
              </a:spcBef>
              <a:buNone/>
            </a:pPr>
            <a:r>
              <a:rPr lang="en-US" sz="1150" dirty="0">
                <a:solidFill>
                  <a:srgbClr val="D4D4D4"/>
                </a:solidFill>
                <a:latin typeface="Courier New"/>
                <a:cs typeface="Courier New"/>
              </a:rPr>
              <a:t xml:space="preserve">}</a:t>
            </a:r>
            <a:endParaRPr lang="en-US" sz="1150" dirty="0"/>
          </a:p>
        </p:txBody>
      </p:sp>
      <p:pic>
        <p:nvPicPr>
          <p:cNvPr id="902" name="Test Explorer screenshot 1" descr="Visual Studio Test Explorer showing all 15 tests passed, including CanAddToEmptyVector"/>
          <p:cNvPicPr>
            <a:picLocks noChangeAspect="1"/>
          </p:cNvPicPr>
          <p:nvPr/>
        </p:nvPicPr>
        <p:blipFill>
          <a:blip r:embed="rIdShot"/>
          <a:stretch>
            <a:fillRect/>
          </a:stretch>
        </p:blipFill>
        <p:spPr>
          <a:xfrm>
            <a:off x="6812280" y="1828800"/>
            <a:ext cx="3793362" cy="4343400"/>
          </a:xfrm>
          <a:prstGeom prst="rect">
            <a:avLst/>
          </a:prstGeom>
          <a:ln w="9525">
            <a:solidFill>
              <a:srgbClr val="595959"/>
            </a:solidFill>
          </a:ln>
        </p:spPr>
      </p:pic>
      <p:sp>
        <p:nvSpPr>
          <p:cNvPr id="903" name="Highlight 1" descr="Highlight around this slide's test"/>
          <p:cNvSpPr/>
          <p:nvPr/>
        </p:nvSpPr>
        <p:spPr>
          <a:xfrm>
            <a:off x="7191616" y="3668580"/>
            <a:ext cx="3395059" cy="208634"/>
          </a:xfrm>
          <a:prstGeom prst="rect">
            <a:avLst/>
          </a:prstGeom>
          <a:noFill/>
          <a:ln w="28575">
            <a:solidFill>
              <a:srgbClr val="FFC000"/>
            </a:solidFill>
          </a:ln>
        </p:spPr>
      </p:sp>
      <p:pic>
        <p:nvPicPr>
          <p:cNvPr id="197" name="Google Shape;197;g9504e29505_0_0"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g9504e29505_0_0"/>
          <p:cNvSpPr txBox="1">
            <a:spLocks noGrp="1"/>
          </p:cNvSpPr>
          <p:nvPr>
            <p:ph type="title"/>
          </p:nvPr>
        </p:nvSpPr>
        <p:spPr>
          <a:xfrm>
            <a:off x="2895600" y="764373"/>
            <a:ext cx="8610600" cy="12930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SzPts val="1800"/>
              <a:buNone/>
            </a:pPr>
            <a:r>
              <a:rPr lang="en-US" sz="3000"/>
              <a:t>Does at() reject an out-of-range index?</a:t>
            </a:r>
            <a:endParaRPr/>
          </a:p>
        </p:txBody>
      </p:sp>
      <p:sp>
        <p:nvSpPr>
          <p:cNvPr id="196" name="Google Shape;196;g9504e29505_0_0"/>
          <p:cNvSpPr txBox="1">
            <a:spLocks noGrp="1"/>
          </p:cNvSpPr>
          <p:nvPr>
            <p:ph type="body" idx="1"/>
          </p:nvPr>
        </p:nvSpPr>
        <p:spPr>
          <a:xfrm>
            <a:off x="640080" y="4800600"/>
            <a:ext cx="5943600" cy="1600200"/>
          </a:xfrm>
          <a:prstGeom prst="rect">
            <a:avLst/>
          </a:prstGeom>
          <a:noFill/>
          <a:ln>
            <a:noFill/>
          </a:ln>
        </p:spPr>
        <p:txBody>
          <a:bodyPr spcFirstLastPara="1" wrap="square" lIns="91425" tIns="45700" rIns="91425" bIns="45700" anchor="t" anchorCtr="0">
            <a:noAutofit/>
          </a:bodyPr>
          <a:lstStyle/>
          <a:p>
            <a:pPr marL="0" indent="0" algn="l">
              <a:spcBef>
                <a:spcPts val="0"/>
              </a:spcBef>
              <a:buNone/>
            </a:pPr>
            <a:r>
              <a:rPr lang="en-US" sz="1400" b="1" dirty="0">
                <a:solidFill>
                  <a:srgbClr val="FFFFFF"/>
                </a:solidFill>
              </a:rPr>
              <a:t xml:space="preserve">Test type: </a:t>
            </a:r>
            <a:r>
              <a:rPr lang="en-US" sz="1400" dirty="0">
                <a:solidFill>
                  <a:srgbClr val="FFFFFF"/>
                </a:solidFill>
              </a:rPr>
              <a:t xml:space="preserve">Negative     </a:t>
            </a:r>
            <a:r>
              <a:rPr lang="en-US" sz="1400" b="1" dirty="0">
                <a:solidFill>
                  <a:srgbClr val="FFFFFF"/>
                </a:solidFill>
              </a:rPr>
              <a:t xml:space="preserve">Result: </a:t>
            </a:r>
            <a:r>
              <a:rPr lang="en-US" sz="1400" dirty="0">
                <a:solidFill>
                  <a:srgbClr val="FFFFFF"/>
                </a:solidFill>
              </a:rPr>
              <a:t xml:space="preserve">Passed</a:t>
            </a:r>
            <a:endParaRPr lang="en-US" sz="1400" dirty="0"/>
          </a:p>
          <a:p>
            <a:pPr marL="0" indent="0" algn="l">
              <a:spcBef>
                <a:spcPts val="300"/>
              </a:spcBef>
              <a:buNone/>
            </a:pPr>
            <a:r>
              <a:rPr lang="en-US" sz="1400" b="1" dirty="0">
                <a:solidFill>
                  <a:srgbClr val="FFFFFF"/>
                </a:solidFill>
              </a:rPr>
              <a:t xml:space="preserve">What it proves: </a:t>
            </a:r>
            <a:r>
              <a:rPr lang="en-US" sz="1400" dirty="0">
                <a:solidFill>
                  <a:srgbClr val="FFFFFF"/>
                </a:solidFill>
              </a:rPr>
              <a:t xml:space="preserve">at(10) on a 5-item vector throws std::out_of_range instead of reading memory it shouldn't.</a:t>
            </a:r>
            <a:endParaRPr lang="en-US" sz="1400" dirty="0"/>
          </a:p>
          <a:p>
            <a:pPr marL="0" indent="0" algn="l">
              <a:spcBef>
                <a:spcPts val="300"/>
              </a:spcBef>
              <a:buNone/>
            </a:pPr>
            <a:r>
              <a:rPr lang="en-US" sz="1400" b="1" dirty="0">
                <a:solidFill>
                  <a:srgbClr val="FFFFFF"/>
                </a:solidFill>
              </a:rPr>
              <a:t xml:space="preserve">Taking it further: </a:t>
            </a:r>
            <a:r>
              <a:rPr lang="en-US" sz="1400" dirty="0">
                <a:solidFill>
                  <a:srgbClr val="FFFFFF"/>
                </a:solidFill>
              </a:rPr>
              <a:t xml:space="preserve">Test the edges: index size() should throw, size() - 1 should work.</a:t>
            </a:r>
            <a:endParaRPr lang="en-US" sz="1400" dirty="0"/>
          </a:p>
        </p:txBody>
      </p:sp>
      <p:sp>
        <p:nvSpPr>
          <p:cNvPr id="904" name="Test code 2"/>
          <p:cNvSpPr txBox="1"/>
          <p:nvPr/>
        </p:nvSpPr>
        <p:spPr>
          <a:xfrm>
            <a:off x="685800" y="1828800"/>
            <a:ext cx="5852160" cy="2926080"/>
          </a:xfrm>
          <a:prstGeom prst="rect">
            <a:avLst/>
          </a:prstGeom>
          <a:solidFill>
            <a:srgbClr val="1E1E1E"/>
          </a:solidFill>
          <a:ln>
            <a:noFill/>
          </a:ln>
        </p:spPr>
        <p:txBody>
          <a:bodyPr wrap="square" lIns="137160" tIns="91440" rIns="137160" bIns="91440" anchor="t">
            <a:noAutofit/>
          </a:bodyPr>
          <a:lstStyle/>
          <a:p>
            <a:pPr marL="0" indent="0" algn="l">
              <a:spcBef>
                <a:spcPts val="0"/>
              </a:spcBef>
              <a:buNone/>
            </a:pPr>
            <a:r>
              <a:rPr lang="en-US" sz="1150" dirty="0">
                <a:solidFill>
                  <a:srgbClr val="D4D4D4"/>
                </a:solidFill>
                <a:latin typeface="Courier New"/>
                <a:cs typeface="Courier New"/>
              </a:rPr>
              <a:t xml:space="preserve">TEST_F(CollectionTest,</a:t>
            </a:r>
            <a:endParaRPr lang="en-US" sz="1150" dirty="0"/>
          </a:p>
          <a:p>
            <a:pPr marL="0" indent="0" algn="l">
              <a:spcBef>
                <a:spcPts val="0"/>
              </a:spcBef>
              <a:buNone/>
            </a:pPr>
            <a:r>
              <a:rPr lang="en-US" sz="1150" dirty="0">
                <a:solidFill>
                  <a:srgbClr val="D4D4D4"/>
                </a:solidFill>
                <a:latin typeface="Courier New"/>
                <a:cs typeface="Courier New"/>
              </a:rPr>
              <a:t xml:space="preserve">       AtThrowsOutOfRangeForInvalidIndex)</a:t>
            </a:r>
            <a:endParaRPr lang="en-US" sz="1150" dirty="0"/>
          </a:p>
          <a:p>
            <a:pPr marL="0" indent="0" algn="l">
              <a:spcBef>
                <a:spcPts val="0"/>
              </a:spcBef>
              <a:buNone/>
            </a:pPr>
            <a:r>
              <a:rPr lang="en-US" sz="1150" dirty="0">
                <a:solidFill>
                  <a:srgbClr val="D4D4D4"/>
                </a:solidFill>
                <a:latin typeface="Courier New"/>
                <a:cs typeface="Courier New"/>
              </a:rPr>
              <a:t xml:space="preserve">{</a:t>
            </a:r>
            <a:endParaRPr lang="en-US" sz="1150" dirty="0"/>
          </a:p>
          <a:p>
            <a:pPr marL="0" indent="0" algn="l">
              <a:spcBef>
                <a:spcPts val="0"/>
              </a:spcBef>
              <a:buNone/>
            </a:pPr>
            <a:r>
              <a:rPr lang="en-US" sz="1150" dirty="0">
                <a:solidFill>
                  <a:srgbClr val="D4D4D4"/>
                </a:solidFill>
                <a:latin typeface="Courier New"/>
                <a:cs typeface="Courier New"/>
              </a:rPr>
              <a:t xml:space="preserve">  add_entries(5);</a:t>
            </a:r>
            <a:endParaRPr lang="en-US" sz="1150" dirty="0"/>
          </a:p>
          <a:p>
            <a:pPr marL="0" indent="0" algn="l">
              <a:spcBef>
                <a:spcPts val="0"/>
              </a:spcBef>
              <a:buNone/>
            </a:pPr>
            <a:r>
              <a:rPr lang="en-US" sz="1150" dirty="0">
                <a:solidFill>
                  <a:srgbClr val="D4D4D4"/>
                </a:solidFill>
                <a:latin typeface="Courier New"/>
                <a:cs typeface="Courier New"/>
              </a:rPr>
              <a:t xml:space="preserve">  ASSERT_EQ(collection-&gt;size(), 5);</a:t>
            </a:r>
            <a:endParaRPr lang="en-US" sz="1150" dirty="0"/>
          </a:p>
          <a:p>
            <a:pPr marL="0" indent="0" algn="l">
              <a:spcBef>
                <a:spcPts val="0"/>
              </a:spcBef>
              <a:buNone/>
            </a:pPr>
            <a:r>
              <a:rPr lang="en-US" sz="1150" dirty="0">
                <a:solidFill>
                  <a:srgbClr val="D4D4D4"/>
                </a:solidFill>
                <a:latin typeface="Courier New"/>
                <a:cs typeface="Courier New"/>
              </a:rPr>
              <a:t xml:space="preserve"> </a:t>
            </a:r>
            <a:endParaRPr lang="en-US" sz="1150" dirty="0"/>
          </a:p>
          <a:p>
            <a:pPr marL="0" indent="0" algn="l">
              <a:spcBef>
                <a:spcPts val="0"/>
              </a:spcBef>
              <a:buNone/>
            </a:pPr>
            <a:r>
              <a:rPr lang="en-US" sz="1150" dirty="0">
                <a:solidFill>
                  <a:srgbClr val="D4D4D4"/>
                </a:solidFill>
                <a:latin typeface="Courier New"/>
                <a:cs typeface="Courier New"/>
              </a:rPr>
              <a:t xml:space="preserve">  // index 10 is out of bounds</a:t>
            </a:r>
            <a:endParaRPr lang="en-US" sz="1150" dirty="0"/>
          </a:p>
          <a:p>
            <a:pPr marL="0" indent="0" algn="l">
              <a:spcBef>
                <a:spcPts val="0"/>
              </a:spcBef>
              <a:buNone/>
            </a:pPr>
            <a:r>
              <a:rPr lang="en-US" sz="1150" dirty="0">
                <a:solidFill>
                  <a:srgbClr val="D4D4D4"/>
                </a:solidFill>
                <a:latin typeface="Courier New"/>
                <a:cs typeface="Courier New"/>
              </a:rPr>
              <a:t xml:space="preserve">  EXPECT_THROW(</a:t>
            </a:r>
            <a:endParaRPr lang="en-US" sz="1150" dirty="0"/>
          </a:p>
          <a:p>
            <a:pPr marL="0" indent="0" algn="l">
              <a:spcBef>
                <a:spcPts val="0"/>
              </a:spcBef>
              <a:buNone/>
            </a:pPr>
            <a:r>
              <a:rPr lang="en-US" sz="1150" dirty="0">
                <a:solidFill>
                  <a:srgbClr val="D4D4D4"/>
                </a:solidFill>
                <a:latin typeface="Courier New"/>
                <a:cs typeface="Courier New"/>
              </a:rPr>
              <a:t xml:space="preserve">    static_cast&lt;void&gt;(collection-&gt;at(10)),</a:t>
            </a:r>
            <a:endParaRPr lang="en-US" sz="1150" dirty="0"/>
          </a:p>
          <a:p>
            <a:pPr marL="0" indent="0" algn="l">
              <a:spcBef>
                <a:spcPts val="0"/>
              </a:spcBef>
              <a:buNone/>
            </a:pPr>
            <a:r>
              <a:rPr lang="en-US" sz="1150" dirty="0">
                <a:solidFill>
                  <a:srgbClr val="D4D4D4"/>
                </a:solidFill>
                <a:latin typeface="Courier New"/>
                <a:cs typeface="Courier New"/>
              </a:rPr>
              <a:t xml:space="preserve">    std::out_of_range);</a:t>
            </a:r>
            <a:endParaRPr lang="en-US" sz="1150" dirty="0"/>
          </a:p>
          <a:p>
            <a:pPr marL="0" indent="0" algn="l">
              <a:spcBef>
                <a:spcPts val="0"/>
              </a:spcBef>
              <a:buNone/>
            </a:pPr>
            <a:r>
              <a:rPr lang="en-US" sz="1150" dirty="0">
                <a:solidFill>
                  <a:srgbClr val="D4D4D4"/>
                </a:solidFill>
                <a:latin typeface="Courier New"/>
                <a:cs typeface="Courier New"/>
              </a:rPr>
              <a:t xml:space="preserve">}</a:t>
            </a:r>
            <a:endParaRPr lang="en-US" sz="1150" dirty="0"/>
          </a:p>
        </p:txBody>
      </p:sp>
      <p:pic>
        <p:nvPicPr>
          <p:cNvPr id="905" name="Test Explorer screenshot 2" descr="Visual Studio Test Explorer showing all 15 tests passed, including this test"/>
          <p:cNvPicPr>
            <a:picLocks noChangeAspect="1"/>
          </p:cNvPicPr>
          <p:nvPr/>
        </p:nvPicPr>
        <p:blipFill>
          <a:blip r:embed="rIdShot"/>
          <a:stretch>
            <a:fillRect/>
          </a:stretch>
        </p:blipFill>
        <p:spPr>
          <a:xfrm>
            <a:off x="6812280" y="1828800"/>
            <a:ext cx="3793362" cy="4343400"/>
          </a:xfrm>
          <a:prstGeom prst="rect">
            <a:avLst/>
          </a:prstGeom>
          <a:ln w="9525">
            <a:solidFill>
              <a:srgbClr val="595959"/>
            </a:solidFill>
          </a:ln>
        </p:spPr>
      </p:pic>
      <p:sp>
        <p:nvSpPr>
          <p:cNvPr id="906" name="Highlight 2" descr="Highlight around this slide's test"/>
          <p:cNvSpPr/>
          <p:nvPr/>
        </p:nvSpPr>
        <p:spPr>
          <a:xfrm>
            <a:off x="7191616" y="3289244"/>
            <a:ext cx="3395059" cy="208634"/>
          </a:xfrm>
          <a:prstGeom prst="rect">
            <a:avLst/>
          </a:prstGeom>
          <a:noFill/>
          <a:ln w="28575">
            <a:solidFill>
              <a:srgbClr val="FFC000"/>
            </a:solidFill>
          </a:ln>
        </p:spPr>
      </p:sp>
      <p:pic>
        <p:nvPicPr>
          <p:cNvPr id="197" name="Google Shape;197;g9504e29505_0_0"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g9504e29505_0_0"/>
          <p:cNvSpPr txBox="1">
            <a:spLocks noGrp="1"/>
          </p:cNvSpPr>
          <p:nvPr>
            <p:ph type="title"/>
          </p:nvPr>
        </p:nvSpPr>
        <p:spPr>
          <a:xfrm>
            <a:off x="2895600" y="764373"/>
            <a:ext cx="8610600" cy="12930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SzPts val="1800"/>
              <a:buNone/>
            </a:pPr>
            <a:r>
              <a:rPr lang="en-US" sz="3000"/>
              <a:t>Does resizing to zero empty the vector?</a:t>
            </a:r>
            <a:endParaRPr/>
          </a:p>
        </p:txBody>
      </p:sp>
      <p:sp>
        <p:nvSpPr>
          <p:cNvPr id="196" name="Google Shape;196;g9504e29505_0_0"/>
          <p:cNvSpPr txBox="1">
            <a:spLocks noGrp="1"/>
          </p:cNvSpPr>
          <p:nvPr>
            <p:ph type="body" idx="1"/>
          </p:nvPr>
        </p:nvSpPr>
        <p:spPr>
          <a:xfrm>
            <a:off x="640080" y="4800600"/>
            <a:ext cx="5943600" cy="1600200"/>
          </a:xfrm>
          <a:prstGeom prst="rect">
            <a:avLst/>
          </a:prstGeom>
          <a:noFill/>
          <a:ln>
            <a:noFill/>
          </a:ln>
        </p:spPr>
        <p:txBody>
          <a:bodyPr spcFirstLastPara="1" wrap="square" lIns="91425" tIns="45700" rIns="91425" bIns="45700" anchor="t" anchorCtr="0">
            <a:noAutofit/>
          </a:bodyPr>
          <a:lstStyle/>
          <a:p>
            <a:pPr marL="0" indent="0" algn="l">
              <a:spcBef>
                <a:spcPts val="0"/>
              </a:spcBef>
              <a:buNone/>
            </a:pPr>
            <a:r>
              <a:rPr lang="en-US" sz="1400" b="1" dirty="0">
                <a:solidFill>
                  <a:srgbClr val="FFFFFF"/>
                </a:solidFill>
              </a:rPr>
              <a:t xml:space="preserve">Test type: </a:t>
            </a:r>
            <a:r>
              <a:rPr lang="en-US" sz="1400" dirty="0">
                <a:solidFill>
                  <a:srgbClr val="FFFFFF"/>
                </a:solidFill>
              </a:rPr>
              <a:t xml:space="preserve">Positive     </a:t>
            </a:r>
            <a:r>
              <a:rPr lang="en-US" sz="1400" b="1" dirty="0">
                <a:solidFill>
                  <a:srgbClr val="FFFFFF"/>
                </a:solidFill>
              </a:rPr>
              <a:t xml:space="preserve">Result: </a:t>
            </a:r>
            <a:r>
              <a:rPr lang="en-US" sz="1400" dirty="0">
                <a:solidFill>
                  <a:srgbClr val="FFFFFF"/>
                </a:solidFill>
              </a:rPr>
              <a:t xml:space="preserve">Passed</a:t>
            </a:r>
            <a:endParaRPr lang="en-US" sz="1400" dirty="0"/>
          </a:p>
          <a:p>
            <a:pPr marL="0" indent="0" algn="l">
              <a:spcBef>
                <a:spcPts val="300"/>
              </a:spcBef>
              <a:buNone/>
            </a:pPr>
            <a:r>
              <a:rPr lang="en-US" sz="1400" b="1" dirty="0">
                <a:solidFill>
                  <a:srgbClr val="FFFFFF"/>
                </a:solidFill>
              </a:rPr>
              <a:t xml:space="preserve">What it proves: </a:t>
            </a:r>
            <a:r>
              <a:rPr lang="en-US" sz="1400" dirty="0">
                <a:solidFill>
                  <a:srgbClr val="FFFFFF"/>
                </a:solidFill>
              </a:rPr>
              <a:t xml:space="preserve">resize(0) removes every value, so the vector is empty.</a:t>
            </a:r>
            <a:endParaRPr lang="en-US" sz="1400" dirty="0"/>
          </a:p>
          <a:p>
            <a:pPr marL="0" indent="0" algn="l">
              <a:spcBef>
                <a:spcPts val="300"/>
              </a:spcBef>
              <a:buNone/>
            </a:pPr>
            <a:r>
              <a:rPr lang="en-US" sz="1400" b="1" dirty="0">
                <a:solidFill>
                  <a:srgbClr val="FFFFFF"/>
                </a:solidFill>
              </a:rPr>
              <a:t xml:space="preserve">Taking it further: </a:t>
            </a:r>
            <a:r>
              <a:rPr lang="en-US" sz="1400" dirty="0">
                <a:solidFill>
                  <a:srgbClr val="FFFFFF"/>
                </a:solidFill>
              </a:rPr>
              <a:t xml:space="preserve">Check that the vector can still be used after it's emptied.</a:t>
            </a:r>
            <a:endParaRPr lang="en-US" sz="1400" dirty="0"/>
          </a:p>
        </p:txBody>
      </p:sp>
      <p:sp>
        <p:nvSpPr>
          <p:cNvPr id="907" name="Test code 3"/>
          <p:cNvSpPr txBox="1"/>
          <p:nvPr/>
        </p:nvSpPr>
        <p:spPr>
          <a:xfrm>
            <a:off x="685800" y="1828800"/>
            <a:ext cx="5852160" cy="2926080"/>
          </a:xfrm>
          <a:prstGeom prst="rect">
            <a:avLst/>
          </a:prstGeom>
          <a:solidFill>
            <a:srgbClr val="1E1E1E"/>
          </a:solidFill>
          <a:ln>
            <a:noFill/>
          </a:ln>
        </p:spPr>
        <p:txBody>
          <a:bodyPr wrap="square" lIns="137160" tIns="91440" rIns="137160" bIns="91440" anchor="t">
            <a:noAutofit/>
          </a:bodyPr>
          <a:lstStyle/>
          <a:p>
            <a:pPr marL="0" indent="0" algn="l">
              <a:spcBef>
                <a:spcPts val="0"/>
              </a:spcBef>
              <a:buNone/>
            </a:pPr>
            <a:r>
              <a:rPr lang="en-US" sz="1150" dirty="0">
                <a:solidFill>
                  <a:srgbClr val="D4D4D4"/>
                </a:solidFill>
                <a:latin typeface="Courier New"/>
                <a:cs typeface="Courier New"/>
              </a:rPr>
              <a:t xml:space="preserve">TEST_F(CollectionTest,</a:t>
            </a:r>
            <a:endParaRPr lang="en-US" sz="1150" dirty="0"/>
          </a:p>
          <a:p>
            <a:pPr marL="0" indent="0" algn="l">
              <a:spcBef>
                <a:spcPts val="0"/>
              </a:spcBef>
              <a:buNone/>
            </a:pPr>
            <a:r>
              <a:rPr lang="en-US" sz="1150" dirty="0">
                <a:solidFill>
                  <a:srgbClr val="D4D4D4"/>
                </a:solidFill>
                <a:latin typeface="Courier New"/>
                <a:cs typeface="Courier New"/>
              </a:rPr>
              <a:t xml:space="preserve">       ResizeDecreasesCollectionToZero)</a:t>
            </a:r>
            <a:endParaRPr lang="en-US" sz="1150" dirty="0"/>
          </a:p>
          <a:p>
            <a:pPr marL="0" indent="0" algn="l">
              <a:spcBef>
                <a:spcPts val="0"/>
              </a:spcBef>
              <a:buNone/>
            </a:pPr>
            <a:r>
              <a:rPr lang="en-US" sz="1150" dirty="0">
                <a:solidFill>
                  <a:srgbClr val="D4D4D4"/>
                </a:solidFill>
                <a:latin typeface="Courier New"/>
                <a:cs typeface="Courier New"/>
              </a:rPr>
              <a:t xml:space="preserve">{</a:t>
            </a:r>
            <a:endParaRPr lang="en-US" sz="1150" dirty="0"/>
          </a:p>
          <a:p>
            <a:pPr marL="0" indent="0" algn="l">
              <a:spcBef>
                <a:spcPts val="0"/>
              </a:spcBef>
              <a:buNone/>
            </a:pPr>
            <a:r>
              <a:rPr lang="en-US" sz="1150" dirty="0">
                <a:solidFill>
                  <a:srgbClr val="D4D4D4"/>
                </a:solidFill>
                <a:latin typeface="Courier New"/>
                <a:cs typeface="Courier New"/>
              </a:rPr>
              <a:t xml:space="preserve">  add_entries(5);</a:t>
            </a:r>
            <a:endParaRPr lang="en-US" sz="1150" dirty="0"/>
          </a:p>
          <a:p>
            <a:pPr marL="0" indent="0" algn="l">
              <a:spcBef>
                <a:spcPts val="0"/>
              </a:spcBef>
              <a:buNone/>
            </a:pPr>
            <a:r>
              <a:rPr lang="en-US" sz="1150" dirty="0">
                <a:solidFill>
                  <a:srgbClr val="D4D4D4"/>
                </a:solidFill>
                <a:latin typeface="Courier New"/>
                <a:cs typeface="Courier New"/>
              </a:rPr>
              <a:t xml:space="preserve">  ASSERT_EQ(collection-&gt;size(), 5);</a:t>
            </a:r>
            <a:endParaRPr lang="en-US" sz="1150" dirty="0"/>
          </a:p>
          <a:p>
            <a:pPr marL="0" indent="0" algn="l">
              <a:spcBef>
                <a:spcPts val="0"/>
              </a:spcBef>
              <a:buNone/>
            </a:pPr>
            <a:r>
              <a:rPr lang="en-US" sz="1150" dirty="0">
                <a:solidFill>
                  <a:srgbClr val="D4D4D4"/>
                </a:solidFill>
                <a:latin typeface="Courier New"/>
                <a:cs typeface="Courier New"/>
              </a:rPr>
              <a:t xml:space="preserve"> </a:t>
            </a:r>
            <a:endParaRPr lang="en-US" sz="1150" dirty="0"/>
          </a:p>
          <a:p>
            <a:pPr marL="0" indent="0" algn="l">
              <a:spcBef>
                <a:spcPts val="0"/>
              </a:spcBef>
              <a:buNone/>
            </a:pPr>
            <a:r>
              <a:rPr lang="en-US" sz="1150" dirty="0">
                <a:solidFill>
                  <a:srgbClr val="D4D4D4"/>
                </a:solidFill>
                <a:latin typeface="Courier New"/>
                <a:cs typeface="Courier New"/>
              </a:rPr>
              <a:t xml:space="preserve">  collection-&gt;resize(0);</a:t>
            </a:r>
            <a:endParaRPr lang="en-US" sz="1150" dirty="0"/>
          </a:p>
          <a:p>
            <a:pPr marL="0" indent="0" algn="l">
              <a:spcBef>
                <a:spcPts val="0"/>
              </a:spcBef>
              <a:buNone/>
            </a:pPr>
            <a:r>
              <a:rPr lang="en-US" sz="1150" dirty="0">
                <a:solidFill>
                  <a:srgbClr val="D4D4D4"/>
                </a:solidFill>
                <a:latin typeface="Courier New"/>
                <a:cs typeface="Courier New"/>
              </a:rPr>
              <a:t xml:space="preserve"> </a:t>
            </a:r>
            <a:endParaRPr lang="en-US" sz="1150" dirty="0"/>
          </a:p>
          <a:p>
            <a:pPr marL="0" indent="0" algn="l">
              <a:spcBef>
                <a:spcPts val="0"/>
              </a:spcBef>
              <a:buNone/>
            </a:pPr>
            <a:r>
              <a:rPr lang="en-US" sz="1150" dirty="0">
                <a:solidFill>
                  <a:srgbClr val="D4D4D4"/>
                </a:solidFill>
                <a:latin typeface="Courier New"/>
                <a:cs typeface="Courier New"/>
              </a:rPr>
              <a:t xml:space="preserve">  EXPECT_TRUE(collection-&gt;empty());</a:t>
            </a:r>
            <a:endParaRPr lang="en-US" sz="1150" dirty="0"/>
          </a:p>
          <a:p>
            <a:pPr marL="0" indent="0" algn="l">
              <a:spcBef>
                <a:spcPts val="0"/>
              </a:spcBef>
              <a:buNone/>
            </a:pPr>
            <a:r>
              <a:rPr lang="en-US" sz="1150" dirty="0">
                <a:solidFill>
                  <a:srgbClr val="D4D4D4"/>
                </a:solidFill>
                <a:latin typeface="Courier New"/>
                <a:cs typeface="Courier New"/>
              </a:rPr>
              <a:t xml:space="preserve">  EXPECT_EQ(collection-&gt;size(), 0);</a:t>
            </a:r>
            <a:endParaRPr lang="en-US" sz="1150" dirty="0"/>
          </a:p>
          <a:p>
            <a:pPr marL="0" indent="0" algn="l">
              <a:spcBef>
                <a:spcPts val="0"/>
              </a:spcBef>
              <a:buNone/>
            </a:pPr>
            <a:r>
              <a:rPr lang="en-US" sz="1150" dirty="0">
                <a:solidFill>
                  <a:srgbClr val="D4D4D4"/>
                </a:solidFill>
                <a:latin typeface="Courier New"/>
                <a:cs typeface="Courier New"/>
              </a:rPr>
              <a:t xml:space="preserve">}</a:t>
            </a:r>
            <a:endParaRPr lang="en-US" sz="1150" dirty="0"/>
          </a:p>
        </p:txBody>
      </p:sp>
      <p:pic>
        <p:nvPicPr>
          <p:cNvPr id="908" name="Test Explorer screenshot 3" descr="Visual Studio Test Explorer showing all 15 tests passed, including this test"/>
          <p:cNvPicPr>
            <a:picLocks noChangeAspect="1"/>
          </p:cNvPicPr>
          <p:nvPr/>
        </p:nvPicPr>
        <p:blipFill>
          <a:blip r:embed="rIdShot"/>
          <a:stretch>
            <a:fillRect/>
          </a:stretch>
        </p:blipFill>
        <p:spPr>
          <a:xfrm>
            <a:off x="6812280" y="1828800"/>
            <a:ext cx="3793362" cy="4343400"/>
          </a:xfrm>
          <a:prstGeom prst="rect">
            <a:avLst/>
          </a:prstGeom>
          <a:ln w="9525">
            <a:solidFill>
              <a:srgbClr val="595959"/>
            </a:solidFill>
          </a:ln>
        </p:spPr>
      </p:pic>
      <p:sp>
        <p:nvSpPr>
          <p:cNvPr id="909" name="Highlight 3" descr="Highlight around this slide's test"/>
          <p:cNvSpPr/>
          <p:nvPr/>
        </p:nvSpPr>
        <p:spPr>
          <a:xfrm>
            <a:off x="7191616" y="5754930"/>
            <a:ext cx="3395059" cy="208634"/>
          </a:xfrm>
          <a:prstGeom prst="rect">
            <a:avLst/>
          </a:prstGeom>
          <a:noFill/>
          <a:ln w="28575">
            <a:solidFill>
              <a:srgbClr val="FFC000"/>
            </a:solidFill>
          </a:ln>
        </p:spPr>
      </p:sp>
      <p:pic>
        <p:nvPicPr>
          <p:cNvPr id="197" name="Google Shape;197;g9504e29505_0_0"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g9504e29505_0_0"/>
          <p:cNvSpPr txBox="1">
            <a:spLocks noGrp="1"/>
          </p:cNvSpPr>
          <p:nvPr>
            <p:ph type="title"/>
          </p:nvPr>
        </p:nvSpPr>
        <p:spPr>
          <a:xfrm>
            <a:off x="2895600" y="764373"/>
            <a:ext cx="8610600" cy="12930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SzPts val="1800"/>
              <a:buNone/>
            </a:pPr>
            <a:r>
              <a:rPr lang="en-US" sz="3000"/>
              <a:t>Is the capacity always at least the size?</a:t>
            </a:r>
            <a:endParaRPr/>
          </a:p>
        </p:txBody>
      </p:sp>
      <p:sp>
        <p:nvSpPr>
          <p:cNvPr id="196" name="Google Shape;196;g9504e29505_0_0"/>
          <p:cNvSpPr txBox="1">
            <a:spLocks noGrp="1"/>
          </p:cNvSpPr>
          <p:nvPr>
            <p:ph type="body" idx="1"/>
          </p:nvPr>
        </p:nvSpPr>
        <p:spPr>
          <a:xfrm>
            <a:off x="640080" y="4800600"/>
            <a:ext cx="5943600" cy="1600200"/>
          </a:xfrm>
          <a:prstGeom prst="rect">
            <a:avLst/>
          </a:prstGeom>
          <a:noFill/>
          <a:ln>
            <a:noFill/>
          </a:ln>
        </p:spPr>
        <p:txBody>
          <a:bodyPr spcFirstLastPara="1" wrap="square" lIns="91425" tIns="45700" rIns="91425" bIns="45700" anchor="t" anchorCtr="0">
            <a:noAutofit/>
          </a:bodyPr>
          <a:lstStyle/>
          <a:p>
            <a:pPr marL="0" indent="0" algn="l">
              <a:spcBef>
                <a:spcPts val="0"/>
              </a:spcBef>
              <a:buNone/>
            </a:pPr>
            <a:r>
              <a:rPr lang="en-US" sz="1400" b="1" dirty="0">
                <a:solidFill>
                  <a:srgbClr val="FFFFFF"/>
                </a:solidFill>
              </a:rPr>
              <a:t xml:space="preserve">Test type: </a:t>
            </a:r>
            <a:r>
              <a:rPr lang="en-US" sz="1400" dirty="0">
                <a:solidFill>
                  <a:srgbClr val="FFFFFF"/>
                </a:solidFill>
              </a:rPr>
              <a:t xml:space="preserve">Positive     </a:t>
            </a:r>
            <a:r>
              <a:rPr lang="en-US" sz="1400" b="1" dirty="0">
                <a:solidFill>
                  <a:srgbClr val="FFFFFF"/>
                </a:solidFill>
              </a:rPr>
              <a:t xml:space="preserve">Result: </a:t>
            </a:r>
            <a:r>
              <a:rPr lang="en-US" sz="1400" dirty="0">
                <a:solidFill>
                  <a:srgbClr val="FFFFFF"/>
                </a:solidFill>
              </a:rPr>
              <a:t xml:space="preserve">Passed</a:t>
            </a:r>
            <a:endParaRPr lang="en-US" sz="1400" dirty="0"/>
          </a:p>
          <a:p>
            <a:pPr marL="0" indent="0" algn="l">
              <a:spcBef>
                <a:spcPts val="300"/>
              </a:spcBef>
              <a:buNone/>
            </a:pPr>
            <a:r>
              <a:rPr lang="en-US" sz="1400" b="1" dirty="0">
                <a:solidFill>
                  <a:srgbClr val="FFFFFF"/>
                </a:solidFill>
              </a:rPr>
              <a:t xml:space="preserve">What it proves: </a:t>
            </a:r>
            <a:r>
              <a:rPr lang="en-US" sz="1400" dirty="0">
                <a:solidFill>
                  <a:srgbClr val="FFFFFF"/>
                </a:solidFill>
              </a:rPr>
              <a:t xml:space="preserve">The vector always has room for what it holds, at 0, 1, 5, and 10 values.</a:t>
            </a:r>
            <a:endParaRPr lang="en-US" sz="1400" dirty="0"/>
          </a:p>
          <a:p>
            <a:pPr marL="0" indent="0" algn="l">
              <a:spcBef>
                <a:spcPts val="300"/>
              </a:spcBef>
              <a:buNone/>
            </a:pPr>
            <a:r>
              <a:rPr lang="en-US" sz="1400" b="1" dirty="0">
                <a:solidFill>
                  <a:srgbClr val="FFFFFF"/>
                </a:solidFill>
              </a:rPr>
              <a:t xml:space="preserve">Taking it further: </a:t>
            </a:r>
            <a:r>
              <a:rPr lang="en-US" sz="1400" dirty="0">
                <a:solidFill>
                  <a:srgbClr val="FFFFFF"/>
                </a:solidFill>
              </a:rPr>
              <a:t xml:space="preserve">Also check capacity after reserve() and shrink_to_fit().</a:t>
            </a:r>
            <a:endParaRPr lang="en-US" sz="1400" dirty="0"/>
          </a:p>
        </p:txBody>
      </p:sp>
      <p:sp>
        <p:nvSpPr>
          <p:cNvPr id="910" name="Test code 4"/>
          <p:cNvSpPr txBox="1"/>
          <p:nvPr/>
        </p:nvSpPr>
        <p:spPr>
          <a:xfrm>
            <a:off x="685800" y="1828800"/>
            <a:ext cx="5852160" cy="2926080"/>
          </a:xfrm>
          <a:prstGeom prst="rect">
            <a:avLst/>
          </a:prstGeom>
          <a:solidFill>
            <a:srgbClr val="1E1E1E"/>
          </a:solidFill>
          <a:ln>
            <a:noFill/>
          </a:ln>
        </p:spPr>
        <p:txBody>
          <a:bodyPr wrap="square" lIns="137160" tIns="91440" rIns="137160" bIns="91440" anchor="t">
            <a:noAutofit/>
          </a:bodyPr>
          <a:lstStyle/>
          <a:p>
            <a:pPr marL="0" indent="0" algn="l">
              <a:spcBef>
                <a:spcPts val="0"/>
              </a:spcBef>
              <a:buNone/>
            </a:pPr>
            <a:r>
              <a:rPr lang="en-US" sz="1150" dirty="0">
                <a:solidFill>
                  <a:srgbClr val="D4D4D4"/>
                </a:solidFill>
                <a:latin typeface="Courier New"/>
                <a:cs typeface="Courier New"/>
              </a:rPr>
              <a:t xml:space="preserve">TEST_F(CollectionTest,</a:t>
            </a:r>
            <a:endParaRPr lang="en-US" sz="1150" dirty="0"/>
          </a:p>
          <a:p>
            <a:pPr marL="0" indent="0" algn="l">
              <a:spcBef>
                <a:spcPts val="0"/>
              </a:spcBef>
              <a:buNone/>
            </a:pPr>
            <a:r>
              <a:rPr lang="en-US" sz="1150" dirty="0">
                <a:solidFill>
                  <a:srgbClr val="D4D4D4"/>
                </a:solidFill>
                <a:latin typeface="Courier New"/>
                <a:cs typeface="Courier New"/>
              </a:rPr>
              <a:t xml:space="preserve">       CapacityIsGreaterThanOrEqualToSize)</a:t>
            </a:r>
            <a:endParaRPr lang="en-US" sz="1150" dirty="0"/>
          </a:p>
          <a:p>
            <a:pPr marL="0" indent="0" algn="l">
              <a:spcBef>
                <a:spcPts val="0"/>
              </a:spcBef>
              <a:buNone/>
            </a:pPr>
            <a:r>
              <a:rPr lang="en-US" sz="1150" dirty="0">
                <a:solidFill>
                  <a:srgbClr val="D4D4D4"/>
                </a:solidFill>
                <a:latin typeface="Courier New"/>
                <a:cs typeface="Courier New"/>
              </a:rPr>
              <a:t xml:space="preserve">{</a:t>
            </a:r>
            <a:endParaRPr lang="en-US" sz="1150" dirty="0"/>
          </a:p>
          <a:p>
            <a:pPr marL="0" indent="0" algn="l">
              <a:spcBef>
                <a:spcPts val="0"/>
              </a:spcBef>
              <a:buNone/>
            </a:pPr>
            <a:r>
              <a:rPr lang="en-US" sz="1150" dirty="0">
                <a:solidFill>
                  <a:srgbClr val="D4D4D4"/>
                </a:solidFill>
                <a:latin typeface="Courier New"/>
                <a:cs typeface="Courier New"/>
              </a:rPr>
              <a:t xml:space="preserve">  ASSERT_EQ(collection-&gt;size(), 0);</a:t>
            </a:r>
            <a:endParaRPr lang="en-US" sz="1150" dirty="0"/>
          </a:p>
          <a:p>
            <a:pPr marL="0" indent="0" algn="l">
              <a:spcBef>
                <a:spcPts val="0"/>
              </a:spcBef>
              <a:buNone/>
            </a:pPr>
            <a:r>
              <a:rPr lang="en-US" sz="1150" dirty="0">
                <a:solidFill>
                  <a:srgbClr val="D4D4D4"/>
                </a:solidFill>
                <a:latin typeface="Courier New"/>
                <a:cs typeface="Courier New"/>
              </a:rPr>
              <a:t xml:space="preserve">  EXPECT_GE(collection-&gt;capacity(), collection-&gt;size());</a:t>
            </a:r>
            <a:endParaRPr lang="en-US" sz="1150" dirty="0"/>
          </a:p>
          <a:p>
            <a:pPr marL="0" indent="0" algn="l">
              <a:spcBef>
                <a:spcPts val="0"/>
              </a:spcBef>
              <a:buNone/>
            </a:pPr>
            <a:r>
              <a:rPr lang="en-US" sz="1150" dirty="0">
                <a:solidFill>
                  <a:srgbClr val="D4D4D4"/>
                </a:solidFill>
                <a:latin typeface="Courier New"/>
                <a:cs typeface="Courier New"/>
              </a:rPr>
              <a:t xml:space="preserve"> </a:t>
            </a:r>
            <a:endParaRPr lang="en-US" sz="1150" dirty="0"/>
          </a:p>
          <a:p>
            <a:pPr marL="0" indent="0" algn="l">
              <a:spcBef>
                <a:spcPts val="0"/>
              </a:spcBef>
              <a:buNone/>
            </a:pPr>
            <a:r>
              <a:rPr lang="en-US" sz="1150" dirty="0">
                <a:solidFill>
                  <a:srgbClr val="D4D4D4"/>
                </a:solidFill>
                <a:latin typeface="Courier New"/>
                <a:cs typeface="Courier New"/>
              </a:rPr>
              <a:t xml:space="preserve">  add_entries(1);</a:t>
            </a:r>
            <a:endParaRPr lang="en-US" sz="1150" dirty="0"/>
          </a:p>
          <a:p>
            <a:pPr marL="0" indent="0" algn="l">
              <a:spcBef>
                <a:spcPts val="0"/>
              </a:spcBef>
              <a:buNone/>
            </a:pPr>
            <a:r>
              <a:rPr lang="en-US" sz="1150" dirty="0">
                <a:solidFill>
                  <a:srgbClr val="D4D4D4"/>
                </a:solidFill>
                <a:latin typeface="Courier New"/>
                <a:cs typeface="Courier New"/>
              </a:rPr>
              <a:t xml:space="preserve">  EXPECT_GE(collection-&gt;capacity(), collection-&gt;size());</a:t>
            </a:r>
            <a:endParaRPr lang="en-US" sz="1150" dirty="0"/>
          </a:p>
          <a:p>
            <a:pPr marL="0" indent="0" algn="l">
              <a:spcBef>
                <a:spcPts val="0"/>
              </a:spcBef>
              <a:buNone/>
            </a:pPr>
            <a:r>
              <a:rPr lang="en-US" sz="1150" dirty="0">
                <a:solidFill>
                  <a:srgbClr val="D4D4D4"/>
                </a:solidFill>
                <a:latin typeface="Courier New"/>
                <a:cs typeface="Courier New"/>
              </a:rPr>
              <a:t xml:space="preserve"> </a:t>
            </a:r>
            <a:endParaRPr lang="en-US" sz="1150" dirty="0"/>
          </a:p>
          <a:p>
            <a:pPr marL="0" indent="0" algn="l">
              <a:spcBef>
                <a:spcPts val="0"/>
              </a:spcBef>
              <a:buNone/>
            </a:pPr>
            <a:r>
              <a:rPr lang="en-US" sz="1150" dirty="0">
                <a:solidFill>
                  <a:srgbClr val="D4D4D4"/>
                </a:solidFill>
                <a:latin typeface="Courier New"/>
                <a:cs typeface="Courier New"/>
              </a:rPr>
              <a:t xml:space="preserve">  add_entries(4);   // 5 entries</a:t>
            </a:r>
            <a:endParaRPr lang="en-US" sz="1150" dirty="0"/>
          </a:p>
          <a:p>
            <a:pPr marL="0" indent="0" algn="l">
              <a:spcBef>
                <a:spcPts val="0"/>
              </a:spcBef>
              <a:buNone/>
            </a:pPr>
            <a:r>
              <a:rPr lang="en-US" sz="1150" dirty="0">
                <a:solidFill>
                  <a:srgbClr val="D4D4D4"/>
                </a:solidFill>
                <a:latin typeface="Courier New"/>
                <a:cs typeface="Courier New"/>
              </a:rPr>
              <a:t xml:space="preserve">  EXPECT_GE(collection-&gt;capacity(), collection-&gt;size());</a:t>
            </a:r>
            <a:endParaRPr lang="en-US" sz="1150" dirty="0"/>
          </a:p>
          <a:p>
            <a:pPr marL="0" indent="0" algn="l">
              <a:spcBef>
                <a:spcPts val="0"/>
              </a:spcBef>
              <a:buNone/>
            </a:pPr>
            <a:r>
              <a:rPr lang="en-US" sz="1150" dirty="0">
                <a:solidFill>
                  <a:srgbClr val="D4D4D4"/>
                </a:solidFill>
                <a:latin typeface="Courier New"/>
                <a:cs typeface="Courier New"/>
              </a:rPr>
              <a:t xml:space="preserve"> </a:t>
            </a:r>
            <a:endParaRPr lang="en-US" sz="1150" dirty="0"/>
          </a:p>
          <a:p>
            <a:pPr marL="0" indent="0" algn="l">
              <a:spcBef>
                <a:spcPts val="0"/>
              </a:spcBef>
              <a:buNone/>
            </a:pPr>
            <a:r>
              <a:rPr lang="en-US" sz="1150" dirty="0">
                <a:solidFill>
                  <a:srgbClr val="D4D4D4"/>
                </a:solidFill>
                <a:latin typeface="Courier New"/>
                <a:cs typeface="Courier New"/>
              </a:rPr>
              <a:t xml:space="preserve">  add_entries(5);   // 10 entries</a:t>
            </a:r>
            <a:endParaRPr lang="en-US" sz="1150" dirty="0"/>
          </a:p>
          <a:p>
            <a:pPr marL="0" indent="0" algn="l">
              <a:spcBef>
                <a:spcPts val="0"/>
              </a:spcBef>
              <a:buNone/>
            </a:pPr>
            <a:r>
              <a:rPr lang="en-US" sz="1150" dirty="0">
                <a:solidFill>
                  <a:srgbClr val="D4D4D4"/>
                </a:solidFill>
                <a:latin typeface="Courier New"/>
                <a:cs typeface="Courier New"/>
              </a:rPr>
              <a:t xml:space="preserve">  EXPECT_GE(collection-&gt;capacity(), collection-&gt;size());</a:t>
            </a:r>
            <a:endParaRPr lang="en-US" sz="1150" dirty="0"/>
          </a:p>
          <a:p>
            <a:pPr marL="0" indent="0" algn="l">
              <a:spcBef>
                <a:spcPts val="0"/>
              </a:spcBef>
              <a:buNone/>
            </a:pPr>
            <a:r>
              <a:rPr lang="en-US" sz="1150" dirty="0">
                <a:solidFill>
                  <a:srgbClr val="D4D4D4"/>
                </a:solidFill>
                <a:latin typeface="Courier New"/>
                <a:cs typeface="Courier New"/>
              </a:rPr>
              <a:t xml:space="preserve">}</a:t>
            </a:r>
            <a:endParaRPr lang="en-US" sz="1150" dirty="0"/>
          </a:p>
        </p:txBody>
      </p:sp>
      <p:pic>
        <p:nvPicPr>
          <p:cNvPr id="911" name="Test Explorer screenshot 4" descr="Visual Studio Test Explorer showing all 15 tests passed, including this test"/>
          <p:cNvPicPr>
            <a:picLocks noChangeAspect="1"/>
          </p:cNvPicPr>
          <p:nvPr/>
        </p:nvPicPr>
        <p:blipFill>
          <a:blip r:embed="rIdShot"/>
          <a:stretch>
            <a:fillRect/>
          </a:stretch>
        </p:blipFill>
        <p:spPr>
          <a:xfrm>
            <a:off x="6812280" y="1828800"/>
            <a:ext cx="3793362" cy="4343400"/>
          </a:xfrm>
          <a:prstGeom prst="rect">
            <a:avLst/>
          </a:prstGeom>
          <a:ln w="9525">
            <a:solidFill>
              <a:srgbClr val="595959"/>
            </a:solidFill>
          </a:ln>
        </p:spPr>
      </p:pic>
      <p:sp>
        <p:nvSpPr>
          <p:cNvPr id="912" name="Highlight 4" descr="Highlight around this slide's test"/>
          <p:cNvSpPr/>
          <p:nvPr/>
        </p:nvSpPr>
        <p:spPr>
          <a:xfrm>
            <a:off x="7191616" y="3858248"/>
            <a:ext cx="3395059" cy="208634"/>
          </a:xfrm>
          <a:prstGeom prst="rect">
            <a:avLst/>
          </a:prstGeom>
          <a:noFill/>
          <a:ln w="28575">
            <a:solidFill>
              <a:srgbClr val="FFC000"/>
            </a:solidFill>
          </a:ln>
        </p:spPr>
      </p:sp>
      <p:pic>
        <p:nvPicPr>
          <p:cNvPr id="197" name="Google Shape;197;g9504e29505_0_0"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g9504e29505_0_0"/>
          <p:cNvSpPr txBox="1">
            <a:spLocks noGrp="1"/>
          </p:cNvSpPr>
          <p:nvPr>
            <p:ph type="title"/>
          </p:nvPr>
        </p:nvSpPr>
        <p:spPr>
          <a:xfrm>
            <a:off x="2895600" y="764373"/>
            <a:ext cx="8610600" cy="12930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SzPts val="1800"/>
              <a:buNone/>
            </a:pPr>
            <a:r>
              <a:rPr lang="en-US" sz="3000"/>
              <a:t>Does reserving too much memory throw?</a:t>
            </a:r>
            <a:endParaRPr/>
          </a:p>
        </p:txBody>
      </p:sp>
      <p:sp>
        <p:nvSpPr>
          <p:cNvPr id="196" name="Google Shape;196;g9504e29505_0_0"/>
          <p:cNvSpPr txBox="1">
            <a:spLocks noGrp="1"/>
          </p:cNvSpPr>
          <p:nvPr>
            <p:ph type="body" idx="1"/>
          </p:nvPr>
        </p:nvSpPr>
        <p:spPr>
          <a:xfrm>
            <a:off x="640080" y="4800600"/>
            <a:ext cx="5943600" cy="1600200"/>
          </a:xfrm>
          <a:prstGeom prst="rect">
            <a:avLst/>
          </a:prstGeom>
          <a:noFill/>
          <a:ln>
            <a:noFill/>
          </a:ln>
        </p:spPr>
        <p:txBody>
          <a:bodyPr spcFirstLastPara="1" wrap="square" lIns="91425" tIns="45700" rIns="91425" bIns="45700" anchor="t" anchorCtr="0">
            <a:noAutofit/>
          </a:bodyPr>
          <a:lstStyle/>
          <a:p>
            <a:pPr marL="0" indent="0" algn="l">
              <a:spcBef>
                <a:spcPts val="0"/>
              </a:spcBef>
              <a:buNone/>
            </a:pPr>
            <a:r>
              <a:rPr lang="en-US" sz="1400" b="1" dirty="0">
                <a:solidFill>
                  <a:srgbClr val="FFFFFF"/>
                </a:solidFill>
              </a:rPr>
              <a:t xml:space="preserve">Test type: </a:t>
            </a:r>
            <a:r>
              <a:rPr lang="en-US" sz="1400" dirty="0">
                <a:solidFill>
                  <a:srgbClr val="FFFFFF"/>
                </a:solidFill>
              </a:rPr>
              <a:t xml:space="preserve">Negative     </a:t>
            </a:r>
            <a:r>
              <a:rPr lang="en-US" sz="1400" b="1" dirty="0">
                <a:solidFill>
                  <a:srgbClr val="FFFFFF"/>
                </a:solidFill>
              </a:rPr>
              <a:t xml:space="preserve">Result: </a:t>
            </a:r>
            <a:r>
              <a:rPr lang="en-US" sz="1400" dirty="0">
                <a:solidFill>
                  <a:srgbClr val="FFFFFF"/>
                </a:solidFill>
              </a:rPr>
              <a:t xml:space="preserve">Passed</a:t>
            </a:r>
            <a:endParaRPr lang="en-US" sz="1400" dirty="0"/>
          </a:p>
          <a:p>
            <a:pPr marL="0" indent="0" algn="l">
              <a:spcBef>
                <a:spcPts val="300"/>
              </a:spcBef>
              <a:buNone/>
            </a:pPr>
            <a:r>
              <a:rPr lang="en-US" sz="1400" b="1" dirty="0">
                <a:solidFill>
                  <a:srgbClr val="FFFFFF"/>
                </a:solidFill>
              </a:rPr>
              <a:t xml:space="preserve">What it proves: </a:t>
            </a:r>
            <a:r>
              <a:rPr lang="en-US" sz="1400" dirty="0">
                <a:solidFill>
                  <a:srgbClr val="FFFFFF"/>
                </a:solidFill>
              </a:rPr>
              <a:t xml:space="preserve">Asking for more than max_size() throws std::length_error, and the vector is left unchanged.</a:t>
            </a:r>
            <a:endParaRPr lang="en-US" sz="1400" dirty="0"/>
          </a:p>
          <a:p>
            <a:pPr marL="0" indent="0" algn="l">
              <a:spcBef>
                <a:spcPts val="300"/>
              </a:spcBef>
              <a:buNone/>
            </a:pPr>
            <a:r>
              <a:rPr lang="en-US" sz="1400" b="1" dirty="0">
                <a:solidFill>
                  <a:srgbClr val="FFFFFF"/>
                </a:solidFill>
              </a:rPr>
              <a:t xml:space="preserve">Taking it further: </a:t>
            </a:r>
            <a:r>
              <a:rPr lang="en-US" sz="1400" dirty="0">
                <a:solidFill>
                  <a:srgbClr val="FFFFFF"/>
                </a:solidFill>
              </a:rPr>
              <a:t xml:space="preserve">Test resize() with a huge size too, like a bad size from user input.</a:t>
            </a:r>
            <a:endParaRPr lang="en-US" sz="1400" dirty="0"/>
          </a:p>
        </p:txBody>
      </p:sp>
      <p:sp>
        <p:nvSpPr>
          <p:cNvPr id="913" name="Test code 5"/>
          <p:cNvSpPr txBox="1"/>
          <p:nvPr/>
        </p:nvSpPr>
        <p:spPr>
          <a:xfrm>
            <a:off x="685800" y="1828800"/>
            <a:ext cx="5852160" cy="2926080"/>
          </a:xfrm>
          <a:prstGeom prst="rect">
            <a:avLst/>
          </a:prstGeom>
          <a:solidFill>
            <a:srgbClr val="1E1E1E"/>
          </a:solidFill>
          <a:ln>
            <a:noFill/>
          </a:ln>
        </p:spPr>
        <p:txBody>
          <a:bodyPr wrap="square" lIns="137160" tIns="91440" rIns="137160" bIns="91440" anchor="t">
            <a:noAutofit/>
          </a:bodyPr>
          <a:lstStyle/>
          <a:p>
            <a:pPr marL="0" indent="0" algn="l">
              <a:spcBef>
                <a:spcPts val="0"/>
              </a:spcBef>
              <a:buNone/>
            </a:pPr>
            <a:r>
              <a:rPr lang="en-US" sz="1150" dirty="0">
                <a:solidFill>
                  <a:srgbClr val="D4D4D4"/>
                </a:solidFill>
                <a:latin typeface="Courier New"/>
                <a:cs typeface="Courier New"/>
              </a:rPr>
              <a:t xml:space="preserve">TEST_F(CollectionTest,</a:t>
            </a:r>
            <a:endParaRPr lang="en-US" sz="1150" dirty="0"/>
          </a:p>
          <a:p>
            <a:pPr marL="0" indent="0" algn="l">
              <a:spcBef>
                <a:spcPts val="0"/>
              </a:spcBef>
              <a:buNone/>
            </a:pPr>
            <a:r>
              <a:rPr lang="en-US" sz="1150" dirty="0">
                <a:solidFill>
                  <a:srgbClr val="D4D4D4"/>
                </a:solidFill>
                <a:latin typeface="Courier New"/>
                <a:cs typeface="Courier New"/>
              </a:rPr>
              <a:t xml:space="preserve">       ReserveMoreThanMaxSizeThrowsLengthError)</a:t>
            </a:r>
            <a:endParaRPr lang="en-US" sz="1150" dirty="0"/>
          </a:p>
          <a:p>
            <a:pPr marL="0" indent="0" algn="l">
              <a:spcBef>
                <a:spcPts val="0"/>
              </a:spcBef>
              <a:buNone/>
            </a:pPr>
            <a:r>
              <a:rPr lang="en-US" sz="1150" dirty="0">
                <a:solidFill>
                  <a:srgbClr val="D4D4D4"/>
                </a:solidFill>
                <a:latin typeface="Courier New"/>
                <a:cs typeface="Courier New"/>
              </a:rPr>
              <a:t xml:space="preserve">{</a:t>
            </a:r>
            <a:endParaRPr lang="en-US" sz="1150" dirty="0"/>
          </a:p>
          <a:p>
            <a:pPr marL="0" indent="0" algn="l">
              <a:spcBef>
                <a:spcPts val="0"/>
              </a:spcBef>
              <a:buNone/>
            </a:pPr>
            <a:r>
              <a:rPr lang="en-US" sz="1150" dirty="0">
                <a:solidFill>
                  <a:srgbClr val="D4D4D4"/>
                </a:solidFill>
                <a:latin typeface="Courier New"/>
                <a:cs typeface="Courier New"/>
              </a:rPr>
              <a:t xml:space="preserve">  ASSERT_TRUE(collection-&gt;empty());</a:t>
            </a:r>
            <a:endParaRPr lang="en-US" sz="1150" dirty="0"/>
          </a:p>
          <a:p>
            <a:pPr marL="0" indent="0" algn="l">
              <a:spcBef>
                <a:spcPts val="0"/>
              </a:spcBef>
              <a:buNone/>
            </a:pPr>
            <a:r>
              <a:rPr lang="en-US" sz="1150" dirty="0">
                <a:solidFill>
                  <a:srgbClr val="D4D4D4"/>
                </a:solidFill>
                <a:latin typeface="Courier New"/>
                <a:cs typeface="Courier New"/>
              </a:rPr>
              <a:t xml:space="preserve"> </a:t>
            </a:r>
            <a:endParaRPr lang="en-US" sz="1150" dirty="0"/>
          </a:p>
          <a:p>
            <a:pPr marL="0" indent="0" algn="l">
              <a:spcBef>
                <a:spcPts val="0"/>
              </a:spcBef>
              <a:buNone/>
            </a:pPr>
            <a:r>
              <a:rPr lang="en-US" sz="1150" dirty="0">
                <a:solidFill>
                  <a:srgbClr val="D4D4D4"/>
                </a:solidFill>
                <a:latin typeface="Courier New"/>
                <a:cs typeface="Courier New"/>
              </a:rPr>
              <a:t xml:space="preserve">  EXPECT_THROW(</a:t>
            </a:r>
            <a:endParaRPr lang="en-US" sz="1150" dirty="0"/>
          </a:p>
          <a:p>
            <a:pPr marL="0" indent="0" algn="l">
              <a:spcBef>
                <a:spcPts val="0"/>
              </a:spcBef>
              <a:buNone/>
            </a:pPr>
            <a:r>
              <a:rPr lang="en-US" sz="1150" dirty="0">
                <a:solidFill>
                  <a:srgbClr val="D4D4D4"/>
                </a:solidFill>
                <a:latin typeface="Courier New"/>
                <a:cs typeface="Courier New"/>
              </a:rPr>
              <a:t xml:space="preserve">    collection-&gt;reserve(collection-&gt;max_size() + 1),</a:t>
            </a:r>
            <a:endParaRPr lang="en-US" sz="1150" dirty="0"/>
          </a:p>
          <a:p>
            <a:pPr marL="0" indent="0" algn="l">
              <a:spcBef>
                <a:spcPts val="0"/>
              </a:spcBef>
              <a:buNone/>
            </a:pPr>
            <a:r>
              <a:rPr lang="en-US" sz="1150" dirty="0">
                <a:solidFill>
                  <a:srgbClr val="D4D4D4"/>
                </a:solidFill>
                <a:latin typeface="Courier New"/>
                <a:cs typeface="Courier New"/>
              </a:rPr>
              <a:t xml:space="preserve">    std::length_error);</a:t>
            </a:r>
            <a:endParaRPr lang="en-US" sz="1150" dirty="0"/>
          </a:p>
          <a:p>
            <a:pPr marL="0" indent="0" algn="l">
              <a:spcBef>
                <a:spcPts val="0"/>
              </a:spcBef>
              <a:buNone/>
            </a:pPr>
            <a:r>
              <a:rPr lang="en-US" sz="1150" dirty="0">
                <a:solidFill>
                  <a:srgbClr val="D4D4D4"/>
                </a:solidFill>
                <a:latin typeface="Courier New"/>
                <a:cs typeface="Courier New"/>
              </a:rPr>
              <a:t xml:space="preserve"> </a:t>
            </a:r>
            <a:endParaRPr lang="en-US" sz="1150" dirty="0"/>
          </a:p>
          <a:p>
            <a:pPr marL="0" indent="0" algn="l">
              <a:spcBef>
                <a:spcPts val="0"/>
              </a:spcBef>
              <a:buNone/>
            </a:pPr>
            <a:r>
              <a:rPr lang="en-US" sz="1150" dirty="0">
                <a:solidFill>
                  <a:srgbClr val="D4D4D4"/>
                </a:solidFill>
                <a:latin typeface="Courier New"/>
                <a:cs typeface="Courier New"/>
              </a:rPr>
              <a:t xml:space="preserve">  // collection is unchanged</a:t>
            </a:r>
            <a:endParaRPr lang="en-US" sz="1150" dirty="0"/>
          </a:p>
          <a:p>
            <a:pPr marL="0" indent="0" algn="l">
              <a:spcBef>
                <a:spcPts val="0"/>
              </a:spcBef>
              <a:buNone/>
            </a:pPr>
            <a:r>
              <a:rPr lang="en-US" sz="1150" dirty="0">
                <a:solidFill>
                  <a:srgbClr val="D4D4D4"/>
                </a:solidFill>
                <a:latin typeface="Courier New"/>
                <a:cs typeface="Courier New"/>
              </a:rPr>
              <a:t xml:space="preserve">  EXPECT_TRUE(collection-&gt;empty());</a:t>
            </a:r>
            <a:endParaRPr lang="en-US" sz="1150" dirty="0"/>
          </a:p>
          <a:p>
            <a:pPr marL="0" indent="0" algn="l">
              <a:spcBef>
                <a:spcPts val="0"/>
              </a:spcBef>
              <a:buNone/>
            </a:pPr>
            <a:r>
              <a:rPr lang="en-US" sz="1150" dirty="0">
                <a:solidFill>
                  <a:srgbClr val="D4D4D4"/>
                </a:solidFill>
                <a:latin typeface="Courier New"/>
                <a:cs typeface="Courier New"/>
              </a:rPr>
              <a:t xml:space="preserve">}</a:t>
            </a:r>
            <a:endParaRPr lang="en-US" sz="1150" dirty="0"/>
          </a:p>
        </p:txBody>
      </p:sp>
      <p:pic>
        <p:nvPicPr>
          <p:cNvPr id="914" name="Test Explorer screenshot 5" descr="Visual Studio Test Explorer showing all 15 tests passed, including this test"/>
          <p:cNvPicPr>
            <a:picLocks noChangeAspect="1"/>
          </p:cNvPicPr>
          <p:nvPr/>
        </p:nvPicPr>
        <p:blipFill>
          <a:blip r:embed="rIdShot"/>
          <a:stretch>
            <a:fillRect/>
          </a:stretch>
        </p:blipFill>
        <p:spPr>
          <a:xfrm>
            <a:off x="6812280" y="1828800"/>
            <a:ext cx="3793362" cy="4343400"/>
          </a:xfrm>
          <a:prstGeom prst="rect">
            <a:avLst/>
          </a:prstGeom>
          <a:ln w="9525">
            <a:solidFill>
              <a:srgbClr val="595959"/>
            </a:solidFill>
          </a:ln>
        </p:spPr>
      </p:pic>
      <p:sp>
        <p:nvSpPr>
          <p:cNvPr id="915" name="Highlight 5" descr="Highlight around this slide's test"/>
          <p:cNvSpPr/>
          <p:nvPr/>
        </p:nvSpPr>
        <p:spPr>
          <a:xfrm>
            <a:off x="7191616" y="5375593"/>
            <a:ext cx="3395059" cy="208634"/>
          </a:xfrm>
          <a:prstGeom prst="rect">
            <a:avLst/>
          </a:prstGeom>
          <a:noFill/>
          <a:ln w="28575">
            <a:solidFill>
              <a:srgbClr val="FFC000"/>
            </a:solidFill>
          </a:ln>
        </p:spPr>
      </p:sp>
      <p:pic>
        <p:nvPicPr>
          <p:cNvPr id="197" name="Google Shape;197;g9504e29505_0_0"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g9504e29505_0_0"/>
          <p:cNvSpPr txBox="1">
            <a:spLocks noGrp="1"/>
          </p:cNvSpPr>
          <p:nvPr>
            <p:ph type="title"/>
          </p:nvPr>
        </p:nvSpPr>
        <p:spPr>
          <a:xfrm>
            <a:off x="2895600" y="764373"/>
            <a:ext cx="8610600" cy="12930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SzPts val="1800"/>
              <a:buNone/>
            </a:pPr>
            <a:r>
              <a:rPr lang="en-US" sz="3000"/>
              <a:t>Does pop_back() remove only the last value?</a:t>
            </a:r>
            <a:endParaRPr/>
          </a:p>
        </p:txBody>
      </p:sp>
      <p:sp>
        <p:nvSpPr>
          <p:cNvPr id="196" name="Google Shape;196;g9504e29505_0_0"/>
          <p:cNvSpPr txBox="1">
            <a:spLocks noGrp="1"/>
          </p:cNvSpPr>
          <p:nvPr>
            <p:ph type="body" idx="1"/>
          </p:nvPr>
        </p:nvSpPr>
        <p:spPr>
          <a:xfrm>
            <a:off x="640080" y="4800600"/>
            <a:ext cx="5943600" cy="1600200"/>
          </a:xfrm>
          <a:prstGeom prst="rect">
            <a:avLst/>
          </a:prstGeom>
          <a:noFill/>
          <a:ln>
            <a:noFill/>
          </a:ln>
        </p:spPr>
        <p:txBody>
          <a:bodyPr spcFirstLastPara="1" wrap="square" lIns="91425" tIns="45700" rIns="91425" bIns="45700" anchor="t" anchorCtr="0">
            <a:noAutofit/>
          </a:bodyPr>
          <a:lstStyle/>
          <a:p>
            <a:pPr marL="0" indent="0" algn="l">
              <a:spcBef>
                <a:spcPts val="0"/>
              </a:spcBef>
              <a:buNone/>
            </a:pPr>
            <a:r>
              <a:rPr lang="en-US" sz="1400" b="1" dirty="0">
                <a:solidFill>
                  <a:srgbClr val="FFFFFF"/>
                </a:solidFill>
              </a:rPr>
              <a:t xml:space="preserve">Test type: </a:t>
            </a:r>
            <a:r>
              <a:rPr lang="en-US" sz="1400" dirty="0">
                <a:solidFill>
                  <a:srgbClr val="FFFFFF"/>
                </a:solidFill>
              </a:rPr>
              <a:t xml:space="preserve">Positive     </a:t>
            </a:r>
            <a:r>
              <a:rPr lang="en-US" sz="1400" b="1" dirty="0">
                <a:solidFill>
                  <a:srgbClr val="FFFFFF"/>
                </a:solidFill>
              </a:rPr>
              <a:t xml:space="preserve">Result: </a:t>
            </a:r>
            <a:r>
              <a:rPr lang="en-US" sz="1400" dirty="0">
                <a:solidFill>
                  <a:srgbClr val="FFFFFF"/>
                </a:solidFill>
              </a:rPr>
              <a:t xml:space="preserve">Passed</a:t>
            </a:r>
            <a:endParaRPr lang="en-US" sz="1400" dirty="0"/>
          </a:p>
          <a:p>
            <a:pPr marL="0" indent="0" algn="l">
              <a:spcBef>
                <a:spcPts val="300"/>
              </a:spcBef>
              <a:buNone/>
            </a:pPr>
            <a:r>
              <a:rPr lang="en-US" sz="1400" b="1" dirty="0">
                <a:solidFill>
                  <a:srgbClr val="FFFFFF"/>
                </a:solidFill>
              </a:rPr>
              <a:t xml:space="preserve">What it proves: </a:t>
            </a:r>
            <a:r>
              <a:rPr lang="en-US" sz="1400" dirty="0">
                <a:solidFill>
                  <a:srgbClr val="FFFFFF"/>
                </a:solidFill>
              </a:rPr>
              <a:t xml:space="preserve">The size drops by one and the other four values stay the same.</a:t>
            </a:r>
            <a:endParaRPr lang="en-US" sz="1400" dirty="0"/>
          </a:p>
          <a:p>
            <a:pPr marL="0" indent="0" algn="l">
              <a:spcBef>
                <a:spcPts val="300"/>
              </a:spcBef>
              <a:buNone/>
            </a:pPr>
            <a:r>
              <a:rPr lang="en-US" sz="1400" b="1" dirty="0">
                <a:solidFill>
                  <a:srgbClr val="FFFFFF"/>
                </a:solidFill>
              </a:rPr>
              <a:t xml:space="preserve">Taking it further: </a:t>
            </a:r>
            <a:r>
              <a:rPr lang="en-US" sz="1400" dirty="0">
                <a:solidFill>
                  <a:srgbClr val="FFFFFF"/>
                </a:solidFill>
              </a:rPr>
              <a:t xml:space="preserve">pop_back() on an empty vector is undefined, so guard against it and test the guard.</a:t>
            </a:r>
            <a:endParaRPr lang="en-US" sz="1400" dirty="0"/>
          </a:p>
        </p:txBody>
      </p:sp>
      <p:sp>
        <p:nvSpPr>
          <p:cNvPr id="916" name="Test code 6"/>
          <p:cNvSpPr txBox="1"/>
          <p:nvPr/>
        </p:nvSpPr>
        <p:spPr>
          <a:xfrm>
            <a:off x="685800" y="1828800"/>
            <a:ext cx="5852160" cy="2926080"/>
          </a:xfrm>
          <a:prstGeom prst="rect">
            <a:avLst/>
          </a:prstGeom>
          <a:solidFill>
            <a:srgbClr val="1E1E1E"/>
          </a:solidFill>
          <a:ln>
            <a:noFill/>
          </a:ln>
        </p:spPr>
        <p:txBody>
          <a:bodyPr wrap="square" lIns="137160" tIns="91440" rIns="137160" bIns="91440" anchor="t">
            <a:noAutofit/>
          </a:bodyPr>
          <a:lstStyle/>
          <a:p>
            <a:pPr marL="0" indent="0" algn="l">
              <a:spcBef>
                <a:spcPts val="0"/>
              </a:spcBef>
              <a:buNone/>
            </a:pPr>
            <a:r>
              <a:rPr lang="en-US" sz="1150" dirty="0">
                <a:solidFill>
                  <a:srgbClr val="D4D4D4"/>
                </a:solidFill>
                <a:latin typeface="Courier New"/>
                <a:cs typeface="Courier New"/>
              </a:rPr>
              <a:t xml:space="preserve">TEST_F(CollectionTest, PopBackRemovesLastValue)</a:t>
            </a:r>
            <a:endParaRPr lang="en-US" sz="1150" dirty="0"/>
          </a:p>
          <a:p>
            <a:pPr marL="0" indent="0" algn="l">
              <a:spcBef>
                <a:spcPts val="0"/>
              </a:spcBef>
              <a:buNone/>
            </a:pPr>
            <a:r>
              <a:rPr lang="en-US" sz="1150" dirty="0">
                <a:solidFill>
                  <a:srgbClr val="D4D4D4"/>
                </a:solidFill>
                <a:latin typeface="Courier New"/>
                <a:cs typeface="Courier New"/>
              </a:rPr>
              <a:t xml:space="preserve">{</a:t>
            </a:r>
            <a:endParaRPr lang="en-US" sz="1150" dirty="0"/>
          </a:p>
          <a:p>
            <a:pPr marL="0" indent="0" algn="l">
              <a:spcBef>
                <a:spcPts val="0"/>
              </a:spcBef>
              <a:buNone/>
            </a:pPr>
            <a:r>
              <a:rPr lang="en-US" sz="1150" dirty="0">
                <a:solidFill>
                  <a:srgbClr val="D4D4D4"/>
                </a:solidFill>
                <a:latin typeface="Courier New"/>
                <a:cs typeface="Courier New"/>
              </a:rPr>
              <a:t xml:space="preserve">  add_entries(5);</a:t>
            </a:r>
            <a:endParaRPr lang="en-US" sz="1150" dirty="0"/>
          </a:p>
          <a:p>
            <a:pPr marL="0" indent="0" algn="l">
              <a:spcBef>
                <a:spcPts val="0"/>
              </a:spcBef>
              <a:buNone/>
            </a:pPr>
            <a:r>
              <a:rPr lang="en-US" sz="1150" dirty="0">
                <a:solidFill>
                  <a:srgbClr val="D4D4D4"/>
                </a:solidFill>
                <a:latin typeface="Courier New"/>
                <a:cs typeface="Courier New"/>
              </a:rPr>
              <a:t xml:space="preserve">  ASSERT_EQ(collection-&gt;size(), 5);</a:t>
            </a:r>
            <a:endParaRPr lang="en-US" sz="1150" dirty="0"/>
          </a:p>
          <a:p>
            <a:pPr marL="0" indent="0" algn="l">
              <a:spcBef>
                <a:spcPts val="0"/>
              </a:spcBef>
              <a:buNone/>
            </a:pPr>
            <a:r>
              <a:rPr lang="en-US" sz="1150" dirty="0">
                <a:solidFill>
                  <a:srgbClr val="D4D4D4"/>
                </a:solidFill>
                <a:latin typeface="Courier New"/>
                <a:cs typeface="Courier New"/>
              </a:rPr>
              <a:t xml:space="preserve"> </a:t>
            </a:r>
            <a:endParaRPr lang="en-US" sz="1150" dirty="0"/>
          </a:p>
          <a:p>
            <a:pPr marL="0" indent="0" algn="l">
              <a:spcBef>
                <a:spcPts val="0"/>
              </a:spcBef>
              <a:buNone/>
            </a:pPr>
            <a:r>
              <a:rPr lang="en-US" sz="1150" dirty="0">
                <a:solidFill>
                  <a:srgbClr val="D4D4D4"/>
                </a:solidFill>
                <a:latin typeface="Courier New"/>
                <a:cs typeface="Courier New"/>
              </a:rPr>
              <a:t xml:space="preserve">  // the first 4 values should be all that's left</a:t>
            </a:r>
            <a:endParaRPr lang="en-US" sz="1150" dirty="0"/>
          </a:p>
          <a:p>
            <a:pPr marL="0" indent="0" algn="l">
              <a:spcBef>
                <a:spcPts val="0"/>
              </a:spcBef>
              <a:buNone/>
            </a:pPr>
            <a:r>
              <a:rPr lang="en-US" sz="1150" dirty="0">
                <a:solidFill>
                  <a:srgbClr val="D4D4D4"/>
                </a:solidFill>
                <a:latin typeface="Courier New"/>
                <a:cs typeface="Courier New"/>
              </a:rPr>
              <a:t xml:space="preserve">  std::vector&lt;int&gt; expected(collection-&gt;begin(),</a:t>
            </a:r>
            <a:endParaRPr lang="en-US" sz="1150" dirty="0"/>
          </a:p>
          <a:p>
            <a:pPr marL="0" indent="0" algn="l">
              <a:spcBef>
                <a:spcPts val="0"/>
              </a:spcBef>
              <a:buNone/>
            </a:pPr>
            <a:r>
              <a:rPr lang="en-US" sz="1150" dirty="0">
                <a:solidFill>
                  <a:srgbClr val="D4D4D4"/>
                </a:solidFill>
                <a:latin typeface="Courier New"/>
                <a:cs typeface="Courier New"/>
              </a:rPr>
              <a:t xml:space="preserve">                            collection-&gt;end() - 1);</a:t>
            </a:r>
            <a:endParaRPr lang="en-US" sz="1150" dirty="0"/>
          </a:p>
          <a:p>
            <a:pPr marL="0" indent="0" algn="l">
              <a:spcBef>
                <a:spcPts val="0"/>
              </a:spcBef>
              <a:buNone/>
            </a:pPr>
            <a:r>
              <a:rPr lang="en-US" sz="1150" dirty="0">
                <a:solidFill>
                  <a:srgbClr val="D4D4D4"/>
                </a:solidFill>
                <a:latin typeface="Courier New"/>
                <a:cs typeface="Courier New"/>
              </a:rPr>
              <a:t xml:space="preserve"> </a:t>
            </a:r>
            <a:endParaRPr lang="en-US" sz="1150" dirty="0"/>
          </a:p>
          <a:p>
            <a:pPr marL="0" indent="0" algn="l">
              <a:spcBef>
                <a:spcPts val="0"/>
              </a:spcBef>
              <a:buNone/>
            </a:pPr>
            <a:r>
              <a:rPr lang="en-US" sz="1150" dirty="0">
                <a:solidFill>
                  <a:srgbClr val="D4D4D4"/>
                </a:solidFill>
                <a:latin typeface="Courier New"/>
                <a:cs typeface="Courier New"/>
              </a:rPr>
              <a:t xml:space="preserve">  collection-&gt;pop_back();</a:t>
            </a:r>
            <a:endParaRPr lang="en-US" sz="1150" dirty="0"/>
          </a:p>
          <a:p>
            <a:pPr marL="0" indent="0" algn="l">
              <a:spcBef>
                <a:spcPts val="0"/>
              </a:spcBef>
              <a:buNone/>
            </a:pPr>
            <a:r>
              <a:rPr lang="en-US" sz="1150" dirty="0">
                <a:solidFill>
                  <a:srgbClr val="D4D4D4"/>
                </a:solidFill>
                <a:latin typeface="Courier New"/>
                <a:cs typeface="Courier New"/>
              </a:rPr>
              <a:t xml:space="preserve"> </a:t>
            </a:r>
            <a:endParaRPr lang="en-US" sz="1150" dirty="0"/>
          </a:p>
          <a:p>
            <a:pPr marL="0" indent="0" algn="l">
              <a:spcBef>
                <a:spcPts val="0"/>
              </a:spcBef>
              <a:buNone/>
            </a:pPr>
            <a:r>
              <a:rPr lang="en-US" sz="1150" dirty="0">
                <a:solidFill>
                  <a:srgbClr val="D4D4D4"/>
                </a:solidFill>
                <a:latin typeface="Courier New"/>
                <a:cs typeface="Courier New"/>
              </a:rPr>
              <a:t xml:space="preserve">  EXPECT_EQ(collection-&gt;size(), 4);</a:t>
            </a:r>
            <a:endParaRPr lang="en-US" sz="1150" dirty="0"/>
          </a:p>
          <a:p>
            <a:pPr marL="0" indent="0" algn="l">
              <a:spcBef>
                <a:spcPts val="0"/>
              </a:spcBef>
              <a:buNone/>
            </a:pPr>
            <a:r>
              <a:rPr lang="en-US" sz="1150" dirty="0">
                <a:solidFill>
                  <a:srgbClr val="D4D4D4"/>
                </a:solidFill>
                <a:latin typeface="Courier New"/>
                <a:cs typeface="Courier New"/>
              </a:rPr>
              <a:t xml:space="preserve">  EXPECT_EQ(*collection, expected);</a:t>
            </a:r>
            <a:endParaRPr lang="en-US" sz="1150" dirty="0"/>
          </a:p>
          <a:p>
            <a:pPr marL="0" indent="0" algn="l">
              <a:spcBef>
                <a:spcPts val="0"/>
              </a:spcBef>
              <a:buNone/>
            </a:pPr>
            <a:r>
              <a:rPr lang="en-US" sz="1150" dirty="0">
                <a:solidFill>
                  <a:srgbClr val="D4D4D4"/>
                </a:solidFill>
                <a:latin typeface="Courier New"/>
                <a:cs typeface="Courier New"/>
              </a:rPr>
              <a:t xml:space="preserve">}</a:t>
            </a:r>
            <a:endParaRPr lang="en-US" sz="1150" dirty="0"/>
          </a:p>
        </p:txBody>
      </p:sp>
      <p:pic>
        <p:nvPicPr>
          <p:cNvPr id="917" name="Test Explorer screenshot 6" descr="Visual Studio Test Explorer showing all 15 tests passed, including PopBackRemovesLastValue"/>
          <p:cNvPicPr>
            <a:picLocks noChangeAspect="1"/>
          </p:cNvPicPr>
          <p:nvPr/>
        </p:nvPicPr>
        <p:blipFill>
          <a:blip r:embed="rIdShot"/>
          <a:stretch>
            <a:fillRect/>
          </a:stretch>
        </p:blipFill>
        <p:spPr>
          <a:xfrm>
            <a:off x="6812280" y="1828800"/>
            <a:ext cx="3793362" cy="4343400"/>
          </a:xfrm>
          <a:prstGeom prst="rect">
            <a:avLst/>
          </a:prstGeom>
          <a:ln w="9525">
            <a:solidFill>
              <a:srgbClr val="595959"/>
            </a:solidFill>
          </a:ln>
        </p:spPr>
      </p:pic>
      <p:sp>
        <p:nvSpPr>
          <p:cNvPr id="918" name="Highlight 6" descr="Highlight around this slide's test"/>
          <p:cNvSpPr/>
          <p:nvPr/>
        </p:nvSpPr>
        <p:spPr>
          <a:xfrm>
            <a:off x="7191616" y="4996257"/>
            <a:ext cx="3395059" cy="208634"/>
          </a:xfrm>
          <a:prstGeom prst="rect">
            <a:avLst/>
          </a:prstGeom>
          <a:noFill/>
          <a:ln w="28575">
            <a:solidFill>
              <a:srgbClr val="FFC000"/>
            </a:solidFill>
          </a:ln>
        </p:spPr>
      </p:sp>
      <p:pic>
        <p:nvPicPr>
          <p:cNvPr id="197" name="Google Shape;197;g9504e29505_0_0"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14"/>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Vapor Trail">
  <a:themeElements>
    <a:clrScheme name="Vapor Trail">
      <a:dk1>
        <a:srgbClr val="000000"/>
      </a:dk1>
      <a:lt1>
        <a:srgbClr val="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9267F6D1A260A4394C18F5AF72445EA" ma:contentTypeVersion="3" ma:contentTypeDescription="Create a new document." ma:contentTypeScope="" ma:versionID="d6a723735a0ade9a92961b83aee31dda">
  <xsd:schema xmlns:xsd="http://www.w3.org/2001/XMLSchema" xmlns:xs="http://www.w3.org/2001/XMLSchema" xmlns:p="http://schemas.microsoft.com/office/2006/metadata/properties" targetNamespace="http://schemas.microsoft.com/office/2006/metadata/properties" ma:root="true" ma:fieldsID="e345bd7673956a623930e5662e321f3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4"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DB4D054-FC38-43E0-B24C-8E3420B75B8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F398236C-7FA9-40C9-B456-AA158A506A32}">
  <ds:schemaRefs>
    <ds:schemaRef ds:uri="http://schemas.microsoft.com/sharepoint/v3/contenttype/forms"/>
  </ds:schemaRefs>
</ds:datastoreItem>
</file>

<file path=customXml/itemProps3.xml><?xml version="1.0" encoding="utf-8"?>
<ds:datastoreItem xmlns:ds="http://schemas.openxmlformats.org/officeDocument/2006/customXml" ds:itemID="{3E9B35DD-16B6-4415-A905-CDACA4FC6DBE}">
  <ds:schemaRefs>
    <ds:schemaRef ds:uri="http://schemas.openxmlformats.org/package/2006/metadata/core-properties"/>
    <ds:schemaRef ds:uri="http://www.w3.org/XML/1998/namespace"/>
    <ds:schemaRef ds:uri="http://schemas.microsoft.com/office/2006/documentManagement/types"/>
    <ds:schemaRef ds:uri="http://purl.org/dc/elements/1.1/"/>
    <ds:schemaRef ds:uri="http://purl.org/dc/dcmitype/"/>
    <ds:schemaRef ds:uri="http://schemas.microsoft.com/office/2006/metadata/properties"/>
    <ds:schemaRef ds:uri="http://schemas.microsoft.com/office/infopath/2007/PartnerControls"/>
    <ds:schemaRef ds:uri="http://purl.org/dc/terms/"/>
  </ds:schemaRefs>
</ds:datastoreItem>
</file>

<file path=docProps/app.xml><?xml version="1.0" encoding="utf-8"?>
<Properties xmlns="http://schemas.openxmlformats.org/officeDocument/2006/extended-properties" xmlns:vt="http://schemas.openxmlformats.org/officeDocument/2006/docPropsVTypes">
  <TotalTime>7</TotalTime>
  <Words>352</Words>
  <Application>Microsoft Office PowerPoint</Application>
  <PresentationFormat>Widescreen</PresentationFormat>
  <Paragraphs>39</Paragraphs>
  <Slides>20</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Century Gothic</vt:lpstr>
      <vt:lpstr>Arial</vt:lpstr>
      <vt:lpstr>Vapor Trail</vt:lpstr>
      <vt:lpstr>Green Pace</vt:lpstr>
      <vt:lpstr>OVERVIEW: DEFENSE IN DEPTH</vt:lpstr>
      <vt:lpstr>THREATS MATRIX</vt:lpstr>
      <vt:lpstr>10 PRINCIPLES</vt:lpstr>
      <vt:lpstr>CODING STANDARDS</vt:lpstr>
      <vt:lpstr>ENCRYPTION POLICIES</vt:lpstr>
      <vt:lpstr>TRIPLE-A POLICIES</vt:lpstr>
      <vt:lpstr>Unit Testing</vt:lpstr>
      <vt:lpstr>AUTOMATION SUMMARY</vt:lpstr>
      <vt:lpstr>TOOLS</vt:lpstr>
      <vt:lpstr>RISKS AND BENEFITS</vt:lpstr>
      <vt:lpstr>RECOMMENDATIONS</vt:lpstr>
      <vt:lpstr>CONCLUSIONS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405 Project Two Presentation Template</dc:title>
  <dc:creator>Kathy Shields</dc:creator>
  <cp:lastModifiedBy>Ankita Koli</cp:lastModifiedBy>
  <cp:revision>4</cp:revision>
  <dcterms:created xsi:type="dcterms:W3CDTF">2020-08-19T17:59:24Z</dcterms:created>
  <dcterms:modified xsi:type="dcterms:W3CDTF">2021-06-29T10:11:44Z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DA78308B-55B0-44AB-B406-C6A80F5E53EB</vt:lpwstr>
  </property>
  <property fmtid="{D5CDD505-2E9C-101B-9397-08002B2CF9AE}" pid="3" name="ArticulatePath">
    <vt:lpwstr>CS 405 P2 Presentation Template</vt:lpwstr>
  </property>
  <property fmtid="{D5CDD505-2E9C-101B-9397-08002B2CF9AE}" pid="4" name="ContentTypeId">
    <vt:lpwstr>0x01010019267F6D1A260A4394C18F5AF72445EA</vt:lpwstr>
  </property>
</Properties>
</file>